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</p:sldIdLst>
  <p:sldSz cy="5143500" cx="9144000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1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1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42" Type="http://schemas.openxmlformats.org/officeDocument/2006/relationships/slide" Target="slides/slide37.xml"/><Relationship Id="rId86" Type="http://schemas.openxmlformats.org/officeDocument/2006/relationships/slide" Target="slides/slide81.xml"/><Relationship Id="rId41" Type="http://schemas.openxmlformats.org/officeDocument/2006/relationships/slide" Target="slides/slide36.xml"/><Relationship Id="rId85" Type="http://schemas.openxmlformats.org/officeDocument/2006/relationships/slide" Target="slides/slide80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31" Type="http://schemas.openxmlformats.org/officeDocument/2006/relationships/slide" Target="slides/slide26.xml"/><Relationship Id="rId75" Type="http://schemas.openxmlformats.org/officeDocument/2006/relationships/slide" Target="slides/slide70.xml"/><Relationship Id="rId30" Type="http://schemas.openxmlformats.org/officeDocument/2006/relationships/slide" Target="slides/slide25.xml"/><Relationship Id="rId74" Type="http://schemas.openxmlformats.org/officeDocument/2006/relationships/slide" Target="slides/slide69.xml"/><Relationship Id="rId33" Type="http://schemas.openxmlformats.org/officeDocument/2006/relationships/slide" Target="slides/slide28.xml"/><Relationship Id="rId77" Type="http://schemas.openxmlformats.org/officeDocument/2006/relationships/slide" Target="slides/slide72.xml"/><Relationship Id="rId32" Type="http://schemas.openxmlformats.org/officeDocument/2006/relationships/slide" Target="slides/slide27.xml"/><Relationship Id="rId76" Type="http://schemas.openxmlformats.org/officeDocument/2006/relationships/slide" Target="slides/slide71.xml"/><Relationship Id="rId35" Type="http://schemas.openxmlformats.org/officeDocument/2006/relationships/slide" Target="slides/slide30.xml"/><Relationship Id="rId79" Type="http://schemas.openxmlformats.org/officeDocument/2006/relationships/slide" Target="slides/slide74.xml"/><Relationship Id="rId34" Type="http://schemas.openxmlformats.org/officeDocument/2006/relationships/slide" Target="slides/slide29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" name="Google Shape;33;p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1034f70a40c_0_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" name="Google Shape;42;g1034f70a40c_0_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43ecf8bfaf_1_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g343ecf8bfaf_1_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43ecf8bfaf_1_1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43ecf8bfaf_1_1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43ecf8bfaf_1_1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43ecf8bfaf_1_1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43ecf8bfaf_1_22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43ecf8bfaf_1_22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43ecf8bfaf_1_2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43ecf8bfaf_1_2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a27f05ee3_0_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ea27f05ee3_0_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43ecf8bfaf_1_39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43ecf8bfaf_1_39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3e423dd84_0_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f3e423dd84_0_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f3e423dd84_0_2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f3e423dd84_0_2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43ecf8bfaf_1_7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43ecf8bfaf_1_7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a27f05ee3_5_2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ea27f05ee3_5_2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f3e423dd84_0_27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f3e423dd84_0_27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ea27f05ee3_5_2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ea27f05ee3_5_2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f3e423dd84_0_65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f3e423dd84_0_65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ea27f05ee3_5_55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ea27f05ee3_5_55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ea27f05ee3_5_6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ea27f05ee3_5_6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ea27f05ee3_5_7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ea27f05ee3_5_7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43ecf8bfaf_1_82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43ecf8bfaf_1_82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43ecf8bfaf_1_89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43ecf8bfaf_1_89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43ecf8bfaf_1_95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43ecf8bfaf_1_95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ea27f05ee3_5_95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ea27f05ee3_5_95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ea27f05ee3_5_10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ea27f05ee3_5_10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ea27f05ee3_5_107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ea27f05ee3_5_107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43ecf8bfaf_1_107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43ecf8bfaf_1_107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ea27f05ee3_5_12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ea27f05ee3_5_12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f3e423dd84_0_7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3f3e423dd84_0_7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43ecf8bfaf_1_11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43ecf8bfaf_1_11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43ecf8bfaf_1_119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43ecf8bfaf_1_119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ea27f05ee3_1_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ea27f05ee3_1_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43ecf8bfaf_1_125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43ecf8bfaf_1_125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43ecf8bfaf_1_13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343ecf8bfaf_1_13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43ecf8bfaf_1_137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43ecf8bfaf_1_137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f3e423dd84_0_8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3f3e423dd84_0_8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43ecf8bfaf_1_14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343ecf8bfaf_1_14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43ecf8bfaf_1_149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343ecf8bfaf_1_149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f3e423dd84_0_9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3f3e423dd84_0_9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f3e423dd84_0_9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3f3e423dd84_0_9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ea27f05ee3_5_255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3ea27f05ee3_5_255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f3e423dd84_0_102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3f3e423dd84_0_102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ea27f05ee3_5_26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3ea27f05ee3_5_26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ea27f05ee3_5_29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3ea27f05ee3_5_29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ea27f05ee3_5_272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3ea27f05ee3_5_272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ea27f05ee3_5_27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3ea27f05ee3_5_27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f3e423dd84_0_10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3f3e423dd84_0_10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f3e423dd84_0_11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3f3e423dd84_0_11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ea27f05ee3_5_28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3ea27f05ee3_5_28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f3e423dd84_0_12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3f3e423dd84_0_12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f3e423dd84_0_13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3f3e423dd84_0_13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3ea27f05ee3_1_2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Google Shape;497;g3ea27f05ee3_1_2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f3e423dd84_0_127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3f3e423dd84_0_127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ea27f05ee3_5_31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3ea27f05ee3_5_31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ea27f05ee3_5_33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3ea27f05ee3_5_33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f3e423dd84_0_139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g3f3e423dd84_0_139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f3e423dd84_0_157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3f3e423dd84_0_157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f3e423dd84_0_16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3" name="Google Shape;553;g3f3e423dd84_0_16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3ea27f05ee3_5_35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0" name="Google Shape;560;g3ea27f05ee3_5_35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3f3e423dd84_0_177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g3f3e423dd84_0_177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ea27f05ee3_5_37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4" name="Google Shape;574;g3ea27f05ee3_5_37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ea27f05ee3_5_36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1" name="Google Shape;581;g3ea27f05ee3_5_36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3f3e423dd84_0_215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8" name="Google Shape;588;g3f3e423dd84_0_215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3f3e423dd84_0_18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5" name="Google Shape;595;g3f3e423dd84_0_18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ea27f05ee3_5_312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2" name="Google Shape;622;g3ea27f05ee3_5_312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3ea27f05ee3_5_339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9" name="Google Shape;629;g3ea27f05ee3_5_339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343f03d6af9_23_2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7" name="Google Shape;637;g343f03d6af9_23_2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3ea27f05ee3_5_41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3ea27f05ee3_5_41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3ea27f05ee3_5_38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Google Shape;652;g3ea27f05ee3_5_38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3ea27f05ee3_5_40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2" name="Google Shape;672;g3ea27f05ee3_5_40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3ea27f05ee3_5_42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9" name="Google Shape;679;g3ea27f05ee3_5_42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343f03d6af9_23_6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6" name="Google Shape;686;g343f03d6af9_23_6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g343f03d6af9_23_72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3" name="Google Shape;693;g343f03d6af9_23_72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343f03d6af9_23_7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0" name="Google Shape;700;g343f03d6af9_23_7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g343f03d6af9_23_10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7" name="Google Shape;707;g343f03d6af9_23_10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3ea27f05ee3_5_249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4" name="Google Shape;714;g3ea27f05ee3_5_249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g3ea27f05ee3_5_16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1" name="Google Shape;721;g3ea27f05ee3_5_16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g3ea27f05ee3_5_17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8" name="Google Shape;728;g3ea27f05ee3_5_17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g3ea27f05ee3_5_18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5" name="Google Shape;735;g3ea27f05ee3_5_18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3ea27f05ee3_5_18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3ea27f05ee3_5_18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g3ea27f05ee3_5_192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9" name="Google Shape;749;g3ea27f05ee3_5_192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3ea27f05ee3_5_19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6" name="Google Shape;756;g3ea27f05ee3_5_19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folie" showMasterSp="0">
  <p:cSld name="Titelfoli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type="title"/>
          </p:nvPr>
        </p:nvSpPr>
        <p:spPr>
          <a:xfrm>
            <a:off x="323851" y="1599642"/>
            <a:ext cx="8496300" cy="162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0000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4000"/>
              <a:buFont typeface="Arial"/>
              <a:buNone/>
              <a:defRPr sz="4000">
                <a:solidFill>
                  <a:srgbClr val="1155CC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713853" y="4914175"/>
            <a:ext cx="391500" cy="22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buNone/>
              <a:defRPr sz="1300"/>
            </a:lvl1pPr>
            <a:lvl2pPr lvl="1" rtl="0">
              <a:buNone/>
              <a:defRPr sz="1300"/>
            </a:lvl2pPr>
            <a:lvl3pPr lvl="2" rtl="0">
              <a:buNone/>
              <a:defRPr sz="1300"/>
            </a:lvl3pPr>
            <a:lvl4pPr lvl="3" rtl="0">
              <a:buNone/>
              <a:defRPr sz="1300"/>
            </a:lvl4pPr>
            <a:lvl5pPr lvl="4" rtl="0">
              <a:buNone/>
              <a:defRPr sz="1300"/>
            </a:lvl5pPr>
            <a:lvl6pPr lvl="5" rtl="0">
              <a:buNone/>
              <a:defRPr sz="1300"/>
            </a:lvl6pPr>
            <a:lvl7pPr lvl="6" rtl="0">
              <a:buNone/>
              <a:defRPr sz="1300"/>
            </a:lvl7pPr>
            <a:lvl8pPr lvl="7" rtl="0">
              <a:buNone/>
              <a:defRPr sz="1300"/>
            </a:lvl8pPr>
            <a:lvl9pPr lvl="8" rtl="0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pic>
        <p:nvPicPr>
          <p:cNvPr id="17" name="Google Shape;17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282424" y="152276"/>
            <a:ext cx="2766824" cy="77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und Inhalt">
  <p:cSld name="Titel und Inhal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0000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1" name="Google Shape;21;p3"/>
          <p:cNvSpPr txBox="1"/>
          <p:nvPr>
            <p:ph idx="1" type="body"/>
          </p:nvPr>
        </p:nvSpPr>
        <p:spPr>
          <a:xfrm>
            <a:off x="323850" y="897565"/>
            <a:ext cx="8496300" cy="38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56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▪"/>
              <a:defRPr>
                <a:solidFill>
                  <a:schemeClr val="dk1"/>
                </a:solidFill>
              </a:defRPr>
            </a:lvl1pPr>
            <a:lvl2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  <a:defRPr>
                <a:solidFill>
                  <a:schemeClr val="dk1"/>
                </a:solidFill>
              </a:defRPr>
            </a:lvl2pPr>
            <a:lvl3pPr indent="-3302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▪"/>
              <a:defRPr>
                <a:solidFill>
                  <a:schemeClr val="dk1"/>
                </a:solidFill>
              </a:defRPr>
            </a:lvl3pPr>
            <a:lvl4pPr indent="-317500" lvl="3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dk1"/>
                </a:solidFill>
              </a:defRPr>
            </a:lvl4pPr>
            <a:lvl5pPr indent="-304800" lvl="4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▪"/>
              <a:defRPr>
                <a:solidFill>
                  <a:schemeClr val="dk1"/>
                </a:solidFill>
              </a:defRPr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r Titel" type="titleOnly">
  <p:cSld name="TITLE_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0000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721079" y="4855250"/>
            <a:ext cx="285300" cy="22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wischentitel">
  <p:cSld name="CUSTOM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Clr>
                <a:srgbClr val="000000"/>
              </a:buClr>
              <a:buSzPts val="1000"/>
              <a:buFont typeface="Arial"/>
              <a:buNone/>
              <a:defRPr/>
            </a:lvl1pPr>
            <a:lvl2pPr lvl="1" rtl="0">
              <a:buClr>
                <a:srgbClr val="000000"/>
              </a:buClr>
              <a:buSzPts val="1000"/>
              <a:buFont typeface="Arial"/>
              <a:buNone/>
              <a:defRPr/>
            </a:lvl2pPr>
            <a:lvl3pPr lvl="2" rtl="0">
              <a:buClr>
                <a:srgbClr val="000000"/>
              </a:buClr>
              <a:buSzPts val="1000"/>
              <a:buFont typeface="Arial"/>
              <a:buNone/>
              <a:defRPr/>
            </a:lvl3pPr>
            <a:lvl4pPr lvl="3" rtl="0">
              <a:buClr>
                <a:srgbClr val="000000"/>
              </a:buClr>
              <a:buSzPts val="1000"/>
              <a:buFont typeface="Arial"/>
              <a:buNone/>
              <a:defRPr/>
            </a:lvl4pPr>
            <a:lvl5pPr lvl="4" rtl="0">
              <a:buClr>
                <a:srgbClr val="000000"/>
              </a:buClr>
              <a:buSzPts val="1000"/>
              <a:buFont typeface="Arial"/>
              <a:buNone/>
              <a:defRPr/>
            </a:lvl5pPr>
            <a:lvl6pPr lvl="5" rtl="0">
              <a:buClr>
                <a:srgbClr val="000000"/>
              </a:buClr>
              <a:buSzPts val="1000"/>
              <a:buFont typeface="Arial"/>
              <a:buNone/>
              <a:defRPr/>
            </a:lvl6pPr>
            <a:lvl7pPr lvl="6" rtl="0">
              <a:buClr>
                <a:srgbClr val="000000"/>
              </a:buClr>
              <a:buSzPts val="1000"/>
              <a:buFont typeface="Arial"/>
              <a:buNone/>
              <a:defRPr/>
            </a:lvl7pPr>
            <a:lvl8pPr lvl="7" rtl="0">
              <a:buClr>
                <a:srgbClr val="000000"/>
              </a:buClr>
              <a:buSzPts val="1000"/>
              <a:buFont typeface="Arial"/>
              <a:buNone/>
              <a:defRPr/>
            </a:lvl8pPr>
            <a:lvl9pPr lvl="8" rtl="0">
              <a:buClr>
                <a:srgbClr val="000000"/>
              </a:buClr>
              <a:buSzPts val="10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9" name="Google Shape;29;p6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0000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" type="subTitle"/>
          </p:nvPr>
        </p:nvSpPr>
        <p:spPr>
          <a:xfrm>
            <a:off x="405525" y="2548100"/>
            <a:ext cx="8340300" cy="675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>
              <a:spcBef>
                <a:spcPts val="600"/>
              </a:spcBef>
              <a:spcAft>
                <a:spcPts val="0"/>
              </a:spcAft>
              <a:buSzPts val="2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3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0000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7" name="Google Shape;7;p1"/>
          <p:cNvCxnSpPr/>
          <p:nvPr/>
        </p:nvCxnSpPr>
        <p:spPr>
          <a:xfrm>
            <a:off x="0" y="4844654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" name="Google Shape;8;p1"/>
          <p:cNvCxnSpPr/>
          <p:nvPr/>
        </p:nvCxnSpPr>
        <p:spPr>
          <a:xfrm>
            <a:off x="0" y="701279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0" name="Google Shape;10;p1"/>
          <p:cNvSpPr txBox="1"/>
          <p:nvPr>
            <p:ph idx="1" type="body"/>
          </p:nvPr>
        </p:nvSpPr>
        <p:spPr>
          <a:xfrm>
            <a:off x="323528" y="897564"/>
            <a:ext cx="8496900" cy="38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56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Noto Sans Symbols"/>
              <a:buChar char="▪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/>
        </p:nvSpPr>
        <p:spPr>
          <a:xfrm>
            <a:off x="167550" y="4889475"/>
            <a:ext cx="17835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/>
              <a:t>Javacream</a:t>
            </a:r>
            <a:endParaRPr sz="1000"/>
          </a:p>
        </p:txBody>
      </p:sp>
      <p:sp>
        <p:nvSpPr>
          <p:cNvPr id="12" name="Google Shape;12;p1"/>
          <p:cNvSpPr txBox="1"/>
          <p:nvPr/>
        </p:nvSpPr>
        <p:spPr>
          <a:xfrm>
            <a:off x="2896425" y="4886000"/>
            <a:ext cx="28638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/>
              <a:t>Prometheus und Grafana</a:t>
            </a:r>
            <a:endParaRPr sz="1200"/>
          </a:p>
        </p:txBody>
      </p:sp>
      <p:pic>
        <p:nvPicPr>
          <p:cNvPr id="13" name="Google Shape;13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627749" y="-125"/>
            <a:ext cx="2497700" cy="7014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2880">
          <p15:clr>
            <a:srgbClr val="F26B43"/>
          </p15:clr>
        </p15:guide>
        <p15:guide id="3" pos="5556">
          <p15:clr>
            <a:srgbClr val="F26B43"/>
          </p15:clr>
        </p15:guide>
        <p15:guide id="4" pos="204">
          <p15:clr>
            <a:srgbClr val="F26B43"/>
          </p15:clr>
        </p15:guide>
        <p15:guide id="5" pos="2971">
          <p15:clr>
            <a:srgbClr val="F26B43"/>
          </p15:clr>
        </p15:guide>
        <p15:guide id="6" pos="278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cegos.deskmate.me/" TargetMode="External"/><Relationship Id="rId4" Type="http://schemas.openxmlformats.org/officeDocument/2006/relationships/hyperlink" Target="mailto:tn0xy.raum01@cegos.de" TargetMode="External"/><Relationship Id="rId5" Type="http://schemas.openxmlformats.org/officeDocument/2006/relationships/hyperlink" Target="mailto:tn0xy.raum01@cegos.de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://javacream.eu:9100" TargetMode="External"/><Relationship Id="rId4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s://prometheus.io/docs/practices/naming/" TargetMode="Externa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hyperlink" Target="http://javacream.eu:9092" TargetMode="Externa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hyperlink" Target="http://localhost:9090" TargetMode="External"/><Relationship Id="rId4" Type="http://schemas.openxmlformats.org/officeDocument/2006/relationships/hyperlink" Target="http://localhost:9092" TargetMode="Externa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hyperlink" Target="http://javacream.eu:9113" TargetMode="External"/><Relationship Id="rId4" Type="http://schemas.openxmlformats.org/officeDocument/2006/relationships/hyperlink" Target="http://javacream.eu:8080" TargetMode="Externa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hyperlink" Target="http://localhost:9090" TargetMode="Externa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"/>
          <p:cNvSpPr/>
          <p:nvPr/>
        </p:nvSpPr>
        <p:spPr>
          <a:xfrm>
            <a:off x="311760" y="2834280"/>
            <a:ext cx="8519760" cy="7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7"/>
          <p:cNvSpPr txBox="1"/>
          <p:nvPr/>
        </p:nvSpPr>
        <p:spPr>
          <a:xfrm>
            <a:off x="698875" y="551615"/>
            <a:ext cx="8496000" cy="11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-342721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de-DE" sz="1100">
                <a:solidFill>
                  <a:srgbClr val="222222"/>
                </a:solidFill>
                <a:highlight>
                  <a:srgbClr val="FFFFFF"/>
                </a:highlight>
              </a:rPr>
              <a:t>{}</a:t>
            </a:r>
            <a:endParaRPr sz="1100">
              <a:solidFill>
                <a:srgbClr val="222222"/>
              </a:solidFill>
              <a:highlight>
                <a:srgbClr val="FFFFFF"/>
              </a:highlight>
            </a:endParaRPr>
          </a:p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8713853" y="4914175"/>
            <a:ext cx="391500" cy="22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23851" y="1599642"/>
            <a:ext cx="8496300" cy="1620300"/>
          </a:xfrm>
          <a:prstGeom prst="rect">
            <a:avLst/>
          </a:prstGeom>
        </p:spPr>
        <p:txBody>
          <a:bodyPr anchorCtr="0" anchor="b" bIns="45700" lIns="900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Prometheus und Grafana</a:t>
            </a:r>
            <a:endParaRPr/>
          </a:p>
        </p:txBody>
      </p:sp>
      <p:sp>
        <p:nvSpPr>
          <p:cNvPr id="39" name="Google Shape;39;p7"/>
          <p:cNvSpPr/>
          <p:nvPr/>
        </p:nvSpPr>
        <p:spPr>
          <a:xfrm>
            <a:off x="259500" y="3593125"/>
            <a:ext cx="7825200" cy="58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Vorstellungsrunde</a:t>
            </a:r>
            <a:endParaRPr/>
          </a:p>
        </p:txBody>
      </p:sp>
      <p:sp>
        <p:nvSpPr>
          <p:cNvPr id="45" name="Google Shape;45;p8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46" name="Google Shape;46;p8"/>
          <p:cNvSpPr txBox="1"/>
          <p:nvPr>
            <p:ph idx="1" type="body"/>
          </p:nvPr>
        </p:nvSpPr>
        <p:spPr>
          <a:xfrm>
            <a:off x="323850" y="897565"/>
            <a:ext cx="8496300" cy="381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Name 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Rolle im Unternehmen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Themenbezogene Vorkenntnisse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Aktuelle Problemsituation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Individuelle Zielsetzung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Verbindung zu Remote Rechnern</a:t>
            </a:r>
            <a:endParaRPr/>
          </a:p>
        </p:txBody>
      </p:sp>
      <p:sp>
        <p:nvSpPr>
          <p:cNvPr id="52" name="Google Shape;52;p9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53" name="Google Shape;53;p9"/>
          <p:cNvSpPr txBox="1"/>
          <p:nvPr>
            <p:ph idx="1" type="body"/>
          </p:nvPr>
        </p:nvSpPr>
        <p:spPr>
          <a:xfrm>
            <a:off x="323850" y="897565"/>
            <a:ext cx="8496300" cy="381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▪"/>
            </a:pPr>
            <a:r>
              <a:rPr lang="de-DE" u="sng">
                <a:solidFill>
                  <a:schemeClr val="hlink"/>
                </a:solidFill>
                <a:hlinkClick r:id="rId3"/>
              </a:rPr>
              <a:t>https://cegos.deskmate.me/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Authentifizierung mit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 u="sng">
                <a:solidFill>
                  <a:schemeClr val="hlink"/>
                </a:solidFill>
                <a:hlinkClick r:id="rId4"/>
              </a:rPr>
              <a:t>tn0xy.raum01@cegos.de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33155_tn0xy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Anmeldung bei Ubuntu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sl01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sl01</a:t>
            </a:r>
            <a:endParaRPr/>
          </a:p>
        </p:txBody>
      </p:sp>
      <p:sp>
        <p:nvSpPr>
          <p:cNvPr id="54" name="Google Shape;54;p9"/>
          <p:cNvSpPr/>
          <p:nvPr/>
        </p:nvSpPr>
        <p:spPr>
          <a:xfrm>
            <a:off x="4852475" y="1488900"/>
            <a:ext cx="3180900" cy="70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xy: Eindeutige, zweiziffrige Zahl im Wertebereich 16-28</a:t>
            </a:r>
            <a:endParaRPr/>
          </a:p>
        </p:txBody>
      </p:sp>
      <p:sp>
        <p:nvSpPr>
          <p:cNvPr id="55" name="Google Shape;55;p9"/>
          <p:cNvSpPr/>
          <p:nvPr/>
        </p:nvSpPr>
        <p:spPr>
          <a:xfrm>
            <a:off x="2294275" y="2544675"/>
            <a:ext cx="2219700" cy="507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sl01 ist in der sudoer Gruppe</a:t>
            </a:r>
            <a:endParaRPr/>
          </a:p>
        </p:txBody>
      </p:sp>
      <p:sp>
        <p:nvSpPr>
          <p:cNvPr id="56" name="Google Shape;56;p9"/>
          <p:cNvSpPr/>
          <p:nvPr/>
        </p:nvSpPr>
        <p:spPr>
          <a:xfrm>
            <a:off x="4427550" y="2918125"/>
            <a:ext cx="4343400" cy="70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</a:pPr>
            <a:r>
              <a:rPr lang="de-DE" sz="1800" u="sng">
                <a:solidFill>
                  <a:schemeClr val="hlink"/>
                </a:solidFill>
                <a:hlinkClick r:id="rId5"/>
              </a:rPr>
              <a:t>tn018.raum01@cegos.de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de-DE" sz="1800">
                <a:solidFill>
                  <a:schemeClr val="dk1"/>
                </a:solidFill>
              </a:rPr>
              <a:t>33155_tn018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62" name="Google Shape;62;p10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0"/>
          <p:cNvSpPr txBox="1"/>
          <p:nvPr>
            <p:ph idx="1" type="subTitle"/>
          </p:nvPr>
        </p:nvSpPr>
        <p:spPr>
          <a:xfrm>
            <a:off x="405525" y="2548100"/>
            <a:ext cx="8340300" cy="675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de-DE"/>
              <a:t>Ausgangssituation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Ab wann spielt Prometheus eine Rolle?</a:t>
            </a:r>
            <a:endParaRPr/>
          </a:p>
        </p:txBody>
      </p:sp>
      <p:sp>
        <p:nvSpPr>
          <p:cNvPr id="69" name="Google Shape;69;p11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>
            <a:off x="323850" y="897565"/>
            <a:ext cx="8496300" cy="381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9250" lvl="0" marL="457200" rtl="0" algn="l">
              <a:spcBef>
                <a:spcPts val="600"/>
              </a:spcBef>
              <a:spcAft>
                <a:spcPts val="0"/>
              </a:spcAft>
              <a:buSzPts val="1900"/>
              <a:buChar char="▪"/>
            </a:pPr>
            <a:r>
              <a:rPr lang="de-DE" sz="1900"/>
              <a:t>Anwendungsentwicklung Nullkommanull</a:t>
            </a:r>
            <a:endParaRPr sz="19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de-DE" sz="1700"/>
              <a:t>Kein Debugging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de-DE" sz="1700"/>
              <a:t>Kein Optimieren und Tuning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de-DE" sz="1700"/>
              <a:t>Kein Testwerkzeug</a:t>
            </a:r>
            <a:endParaRPr sz="17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▪"/>
            </a:pPr>
            <a:r>
              <a:rPr lang="de-DE" sz="1900"/>
              <a:t>Logging: Nein</a:t>
            </a:r>
            <a:endParaRPr sz="19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de-DE" sz="1700"/>
              <a:t>Request-Log / Transaction Log wird in Prometheus nicht erfasst</a:t>
            </a:r>
            <a:endParaRPr sz="1700"/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SzPts val="1500"/>
              <a:buChar char="▪"/>
            </a:pPr>
            <a:r>
              <a:rPr lang="de-DE" sz="1500"/>
              <a:t>Hinweis: Hier wäre eine Grafana / Loki-Kombination möglich</a:t>
            </a:r>
            <a:endParaRPr sz="15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▪"/>
            </a:pPr>
            <a:r>
              <a:rPr lang="de-DE" sz="1900"/>
              <a:t>Erfassung von Metriken in Produktion ist der Primärfokus von Prometheus</a:t>
            </a:r>
            <a:endParaRPr sz="19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de-DE" sz="1700"/>
              <a:t>Eine Metrik hat</a:t>
            </a:r>
            <a:endParaRPr sz="1700"/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SzPts val="1500"/>
              <a:buChar char="▪"/>
            </a:pPr>
            <a:r>
              <a:rPr lang="de-DE" sz="1500"/>
              <a:t>Einen Zahlenwert</a:t>
            </a:r>
            <a:endParaRPr sz="1500"/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SzPts val="1500"/>
              <a:buChar char="▪"/>
            </a:pPr>
            <a:r>
              <a:rPr lang="de-DE" sz="1500"/>
              <a:t>Eine "physikalische" Einheit</a:t>
            </a:r>
            <a:endParaRPr sz="1500"/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SzPts val="1500"/>
              <a:buChar char="▪"/>
            </a:pPr>
            <a:r>
              <a:rPr lang="de-DE" sz="1500"/>
              <a:t>Identifier mit einem sprechenden Namen sowie gegebenenfalls Label / Tags</a:t>
            </a:r>
            <a:endParaRPr sz="1500"/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SzPts val="1500"/>
              <a:buChar char="▪"/>
            </a:pPr>
            <a:r>
              <a:rPr lang="de-DE" sz="1500"/>
              <a:t>Zeitstempel</a:t>
            </a:r>
            <a:endParaRPr sz="1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idx="1" type="body"/>
          </p:nvPr>
        </p:nvSpPr>
        <p:spPr>
          <a:xfrm>
            <a:off x="323850" y="897565"/>
            <a:ext cx="8496300" cy="381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Erfassen der Metriken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aus einer beliebigen Anzahl von Systemen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Persistente Ablage der Metriken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Analysewerkzeuge für Metriken im wesentlichen statistischen Verfahren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Bezug zur Mathematik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Machine Learning / KI durch externe Tools möglich, noch nicht Bestandteil von Prometheus Core</a:t>
            </a:r>
            <a:endParaRPr/>
          </a:p>
        </p:txBody>
      </p:sp>
      <p:sp>
        <p:nvSpPr>
          <p:cNvPr id="76" name="Google Shape;76;p12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Aufgaben von Prometheus</a:t>
            </a:r>
            <a:endParaRPr/>
          </a:p>
        </p:txBody>
      </p:sp>
      <p:sp>
        <p:nvSpPr>
          <p:cNvPr id="77" name="Google Shape;77;p12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83" name="Google Shape;83;p13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Der Prometheus Server</a:t>
            </a:r>
            <a:endParaRPr/>
          </a:p>
        </p:txBody>
      </p:sp>
      <p:sp>
        <p:nvSpPr>
          <p:cNvPr id="84" name="Google Shape;84;p13"/>
          <p:cNvSpPr/>
          <p:nvPr/>
        </p:nvSpPr>
        <p:spPr>
          <a:xfrm>
            <a:off x="81225" y="1272350"/>
            <a:ext cx="8595000" cy="1969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Prometheus</a:t>
            </a:r>
            <a:endParaRPr/>
          </a:p>
        </p:txBody>
      </p:sp>
      <p:sp>
        <p:nvSpPr>
          <p:cNvPr id="85" name="Google Shape;85;p13"/>
          <p:cNvSpPr/>
          <p:nvPr/>
        </p:nvSpPr>
        <p:spPr>
          <a:xfrm>
            <a:off x="1583675" y="1421225"/>
            <a:ext cx="2490525" cy="1570125"/>
          </a:xfrm>
          <a:prstGeom prst="flowChartMagneticDisk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Time Series Database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TSDB</a:t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4933700" y="1725775"/>
            <a:ext cx="3282375" cy="1021925"/>
          </a:xfrm>
          <a:prstGeom prst="flowChartMagneticDrum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Query Interpreter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highlight>
                  <a:srgbClr val="FFF2CC"/>
                </a:highlight>
              </a:rPr>
              <a:t>PromQL</a:t>
            </a:r>
            <a:endParaRPr>
              <a:highlight>
                <a:srgbClr val="FFF2CC"/>
              </a:highlight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4074200" y="2165675"/>
            <a:ext cx="873000" cy="2706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4737425" y="3900550"/>
            <a:ext cx="3580200" cy="6501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highlight>
                  <a:srgbClr val="FFF2CC"/>
                </a:highlight>
              </a:rPr>
              <a:t>PromQL </a:t>
            </a:r>
            <a:r>
              <a:rPr lang="de-DE"/>
              <a:t>stellt Abfragen und statistische Funktionen zur Verfügung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94" name="Google Shape;94;p14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Exkurs: Relationale Datenbank</a:t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81225" y="1272350"/>
            <a:ext cx="8595000" cy="1969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z.B. MySql</a:t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1583675" y="1421225"/>
            <a:ext cx="2490525" cy="1570125"/>
          </a:xfrm>
          <a:prstGeom prst="flowChartMagneticDisk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Tabellenschema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4933700" y="1725775"/>
            <a:ext cx="3282375" cy="1021925"/>
          </a:xfrm>
          <a:prstGeom prst="flowChartMagneticDrum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Query Interpreter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highlight>
                  <a:srgbClr val="D0E0E3"/>
                </a:highlight>
              </a:rPr>
              <a:t>SQL</a:t>
            </a:r>
            <a:endParaRPr>
              <a:highlight>
                <a:srgbClr val="D0E0E3"/>
              </a:highlight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4074200" y="2165675"/>
            <a:ext cx="873000" cy="2706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4737425" y="3900550"/>
            <a:ext cx="3580200" cy="6501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SQL stellt Abfragen zur Verfügung, z.B. "Zeige alle Bestellungen eines Kunden"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1733200" y="2288450"/>
            <a:ext cx="1524600" cy="3465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Customers</a:t>
            </a:r>
            <a:endParaRPr/>
          </a:p>
        </p:txBody>
      </p:sp>
      <p:sp>
        <p:nvSpPr>
          <p:cNvPr id="101" name="Google Shape;101;p14"/>
          <p:cNvSpPr/>
          <p:nvPr/>
        </p:nvSpPr>
        <p:spPr>
          <a:xfrm>
            <a:off x="1885600" y="2556348"/>
            <a:ext cx="1524600" cy="3465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Orders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07" name="Google Shape;107;p15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Der Prometheus Server</a:t>
            </a:r>
            <a:endParaRPr/>
          </a:p>
        </p:txBody>
      </p:sp>
      <p:sp>
        <p:nvSpPr>
          <p:cNvPr id="108" name="Google Shape;108;p15"/>
          <p:cNvSpPr/>
          <p:nvPr/>
        </p:nvSpPr>
        <p:spPr>
          <a:xfrm>
            <a:off x="81225" y="1272350"/>
            <a:ext cx="8595000" cy="1969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Prometheus</a:t>
            </a:r>
            <a:endParaRPr/>
          </a:p>
        </p:txBody>
      </p:sp>
      <p:sp>
        <p:nvSpPr>
          <p:cNvPr id="109" name="Google Shape;109;p15"/>
          <p:cNvSpPr/>
          <p:nvPr/>
        </p:nvSpPr>
        <p:spPr>
          <a:xfrm>
            <a:off x="2773325" y="1725775"/>
            <a:ext cx="2490525" cy="1245275"/>
          </a:xfrm>
          <a:prstGeom prst="flowChartMagneticDisk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Time Series Database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TSDB</a:t>
            </a:r>
            <a:endParaRPr/>
          </a:p>
        </p:txBody>
      </p:sp>
      <p:sp>
        <p:nvSpPr>
          <p:cNvPr id="110" name="Google Shape;110;p15"/>
          <p:cNvSpPr/>
          <p:nvPr/>
        </p:nvSpPr>
        <p:spPr>
          <a:xfrm>
            <a:off x="5908250" y="1725775"/>
            <a:ext cx="2307825" cy="1021925"/>
          </a:xfrm>
          <a:prstGeom prst="flowChartMagneticDrum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Query Interpreter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highlight>
                  <a:srgbClr val="D0E0E3"/>
                </a:highlight>
              </a:rPr>
              <a:t>PromQL</a:t>
            </a:r>
            <a:endParaRPr>
              <a:highlight>
                <a:srgbClr val="D0E0E3"/>
              </a:highlight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5265325" y="2165675"/>
            <a:ext cx="642900" cy="3924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5"/>
          <p:cNvSpPr/>
          <p:nvPr/>
        </p:nvSpPr>
        <p:spPr>
          <a:xfrm>
            <a:off x="4737425" y="3900550"/>
            <a:ext cx="3580200" cy="6501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PromQL stellt Abfragen und statistische Funktionen zur Verfügung</a:t>
            </a:r>
            <a:endParaRPr/>
          </a:p>
        </p:txBody>
      </p:sp>
      <p:sp>
        <p:nvSpPr>
          <p:cNvPr id="113" name="Google Shape;113;p15"/>
          <p:cNvSpPr/>
          <p:nvPr/>
        </p:nvSpPr>
        <p:spPr>
          <a:xfrm>
            <a:off x="236875" y="1807000"/>
            <a:ext cx="1881300" cy="1055700"/>
          </a:xfrm>
          <a:prstGeom prst="ellipse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Scheduler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mit </a:t>
            </a:r>
            <a:r>
              <a:rPr lang="de-DE">
                <a:highlight>
                  <a:srgbClr val="FFF2CC"/>
                </a:highlight>
              </a:rPr>
              <a:t>Scraping </a:t>
            </a:r>
            <a:r>
              <a:rPr lang="de-DE"/>
              <a:t>von Daten</a:t>
            </a:r>
            <a:endParaRPr/>
          </a:p>
        </p:txBody>
      </p:sp>
      <p:sp>
        <p:nvSpPr>
          <p:cNvPr id="114" name="Google Shape;114;p15"/>
          <p:cNvSpPr/>
          <p:nvPr/>
        </p:nvSpPr>
        <p:spPr>
          <a:xfrm>
            <a:off x="115050" y="3945600"/>
            <a:ext cx="3647700" cy="8055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highlight>
                  <a:srgbClr val="FFF2CC"/>
                </a:highlight>
              </a:rPr>
              <a:t>Scraping </a:t>
            </a:r>
            <a:r>
              <a:rPr lang="de-DE"/>
              <a:t>ist ein Lesen einer textuellen Information, die im Prometheus-Format bereitgestellt wird von einem http-Endpoint</a:t>
            </a:r>
            <a:endParaRPr/>
          </a:p>
        </p:txBody>
      </p:sp>
      <p:sp>
        <p:nvSpPr>
          <p:cNvPr id="115" name="Google Shape;115;p15"/>
          <p:cNvSpPr/>
          <p:nvPr/>
        </p:nvSpPr>
        <p:spPr>
          <a:xfrm>
            <a:off x="2111550" y="2287500"/>
            <a:ext cx="642900" cy="270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6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21" name="Google Shape;121;p16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Der Prometheus Server</a:t>
            </a:r>
            <a:endParaRPr/>
          </a:p>
        </p:txBody>
      </p:sp>
      <p:sp>
        <p:nvSpPr>
          <p:cNvPr id="122" name="Google Shape;122;p16"/>
          <p:cNvSpPr/>
          <p:nvPr/>
        </p:nvSpPr>
        <p:spPr>
          <a:xfrm>
            <a:off x="81225" y="1272350"/>
            <a:ext cx="7380600" cy="1969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Prometheus</a:t>
            </a:r>
            <a:endParaRPr/>
          </a:p>
        </p:txBody>
      </p:sp>
      <p:sp>
        <p:nvSpPr>
          <p:cNvPr id="123" name="Google Shape;123;p16"/>
          <p:cNvSpPr/>
          <p:nvPr/>
        </p:nvSpPr>
        <p:spPr>
          <a:xfrm>
            <a:off x="2773325" y="1725775"/>
            <a:ext cx="1842087" cy="1245275"/>
          </a:xfrm>
          <a:prstGeom prst="flowChartMagneticDisk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Time Series Database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TSDB</a:t>
            </a:r>
            <a:endParaRPr/>
          </a:p>
        </p:txBody>
      </p:sp>
      <p:sp>
        <p:nvSpPr>
          <p:cNvPr id="124" name="Google Shape;124;p16"/>
          <p:cNvSpPr/>
          <p:nvPr/>
        </p:nvSpPr>
        <p:spPr>
          <a:xfrm>
            <a:off x="5270550" y="1896963"/>
            <a:ext cx="1807000" cy="1021925"/>
          </a:xfrm>
          <a:prstGeom prst="flowChartMagneticDrum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/>
              <a:t>Query Interpreter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>
                <a:highlight>
                  <a:srgbClr val="D0E0E3"/>
                </a:highlight>
              </a:rPr>
              <a:t>PromQL</a:t>
            </a:r>
            <a:endParaRPr sz="1200">
              <a:highlight>
                <a:srgbClr val="D0E0E3"/>
              </a:highlight>
            </a:endParaRPr>
          </a:p>
        </p:txBody>
      </p:sp>
      <p:sp>
        <p:nvSpPr>
          <p:cNvPr id="125" name="Google Shape;125;p16"/>
          <p:cNvSpPr/>
          <p:nvPr/>
        </p:nvSpPr>
        <p:spPr>
          <a:xfrm>
            <a:off x="4579525" y="2165675"/>
            <a:ext cx="642900" cy="3924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6"/>
          <p:cNvSpPr/>
          <p:nvPr/>
        </p:nvSpPr>
        <p:spPr>
          <a:xfrm>
            <a:off x="3881625" y="3945600"/>
            <a:ext cx="3237600" cy="6501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PromQL stellt Abfragen und statistische Funktionen zur Verfügung</a:t>
            </a:r>
            <a:endParaRPr/>
          </a:p>
        </p:txBody>
      </p:sp>
      <p:sp>
        <p:nvSpPr>
          <p:cNvPr id="127" name="Google Shape;127;p16"/>
          <p:cNvSpPr/>
          <p:nvPr/>
        </p:nvSpPr>
        <p:spPr>
          <a:xfrm>
            <a:off x="236875" y="1807000"/>
            <a:ext cx="1881300" cy="1055700"/>
          </a:xfrm>
          <a:prstGeom prst="ellipse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Scheduler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mit </a:t>
            </a:r>
            <a:r>
              <a:rPr lang="de-DE">
                <a:highlight>
                  <a:srgbClr val="D0E0E3"/>
                </a:highlight>
              </a:rPr>
              <a:t>Scraping </a:t>
            </a:r>
            <a:r>
              <a:rPr lang="de-DE"/>
              <a:t>von Daten</a:t>
            </a:r>
            <a:endParaRPr/>
          </a:p>
        </p:txBody>
      </p:sp>
      <p:sp>
        <p:nvSpPr>
          <p:cNvPr id="128" name="Google Shape;128;p16"/>
          <p:cNvSpPr/>
          <p:nvPr/>
        </p:nvSpPr>
        <p:spPr>
          <a:xfrm>
            <a:off x="115050" y="3945600"/>
            <a:ext cx="3647700" cy="8055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Scraping ist ein Lesen einer textuellen Information, die im Prometheus-Format bereitgestellt wird von einem http-Endpoint</a:t>
            </a:r>
            <a:endParaRPr/>
          </a:p>
        </p:txBody>
      </p:sp>
      <p:sp>
        <p:nvSpPr>
          <p:cNvPr id="129" name="Google Shape;129;p16"/>
          <p:cNvSpPr/>
          <p:nvPr/>
        </p:nvSpPr>
        <p:spPr>
          <a:xfrm>
            <a:off x="2111550" y="2287500"/>
            <a:ext cx="642900" cy="270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6"/>
          <p:cNvSpPr/>
          <p:nvPr/>
        </p:nvSpPr>
        <p:spPr>
          <a:xfrm>
            <a:off x="7310450" y="1726025"/>
            <a:ext cx="1028700" cy="4872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highlight>
                  <a:srgbClr val="FFF2CC"/>
                </a:highlight>
              </a:rPr>
              <a:t>Web Frontend</a:t>
            </a:r>
            <a:endParaRPr>
              <a:highlight>
                <a:srgbClr val="FFF2CC"/>
              </a:highlight>
            </a:endParaRPr>
          </a:p>
        </p:txBody>
      </p:sp>
      <p:sp>
        <p:nvSpPr>
          <p:cNvPr id="131" name="Google Shape;131;p16"/>
          <p:cNvSpPr/>
          <p:nvPr/>
        </p:nvSpPr>
        <p:spPr>
          <a:xfrm>
            <a:off x="7310450" y="2335625"/>
            <a:ext cx="1028700" cy="4872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REST Endpoints</a:t>
            </a:r>
            <a:endParaRPr/>
          </a:p>
        </p:txBody>
      </p:sp>
      <p:cxnSp>
        <p:nvCxnSpPr>
          <p:cNvPr id="132" name="Google Shape;132;p16"/>
          <p:cNvCxnSpPr>
            <a:stCxn id="130" idx="1"/>
            <a:endCxn id="124" idx="4"/>
          </p:cNvCxnSpPr>
          <p:nvPr/>
        </p:nvCxnSpPr>
        <p:spPr>
          <a:xfrm flipH="1">
            <a:off x="7077650" y="1969625"/>
            <a:ext cx="232800" cy="438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3" name="Google Shape;133;p16"/>
          <p:cNvCxnSpPr>
            <a:stCxn id="131" idx="1"/>
            <a:endCxn id="124" idx="4"/>
          </p:cNvCxnSpPr>
          <p:nvPr/>
        </p:nvCxnSpPr>
        <p:spPr>
          <a:xfrm rot="10800000">
            <a:off x="7077650" y="2407925"/>
            <a:ext cx="232800" cy="17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4" name="Google Shape;134;p16"/>
          <p:cNvSpPr/>
          <p:nvPr/>
        </p:nvSpPr>
        <p:spPr>
          <a:xfrm>
            <a:off x="7700600" y="802375"/>
            <a:ext cx="1355100" cy="4872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Browser</a:t>
            </a:r>
            <a:endParaRPr/>
          </a:p>
        </p:txBody>
      </p:sp>
      <p:sp>
        <p:nvSpPr>
          <p:cNvPr id="135" name="Google Shape;135;p16"/>
          <p:cNvSpPr/>
          <p:nvPr/>
        </p:nvSpPr>
        <p:spPr>
          <a:xfrm>
            <a:off x="7908500" y="1302875"/>
            <a:ext cx="246300" cy="3924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6"/>
          <p:cNvSpPr/>
          <p:nvPr/>
        </p:nvSpPr>
        <p:spPr>
          <a:xfrm>
            <a:off x="7295850" y="3951875"/>
            <a:ext cx="1759800" cy="6303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(Rudimentäre) </a:t>
            </a:r>
            <a:r>
              <a:rPr lang="de-DE">
                <a:highlight>
                  <a:srgbClr val="FFF2CC"/>
                </a:highlight>
              </a:rPr>
              <a:t>Benutzeroberfläche</a:t>
            </a:r>
            <a:endParaRPr>
              <a:highlight>
                <a:srgbClr val="FFF2CC"/>
              </a:highlight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7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Offener Punkt</a:t>
            </a:r>
            <a:endParaRPr/>
          </a:p>
        </p:txBody>
      </p:sp>
      <p:sp>
        <p:nvSpPr>
          <p:cNvPr id="142" name="Google Shape;142;p17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43" name="Google Shape;143;p17"/>
          <p:cNvSpPr txBox="1"/>
          <p:nvPr>
            <p:ph idx="1" type="body"/>
          </p:nvPr>
        </p:nvSpPr>
        <p:spPr>
          <a:xfrm>
            <a:off x="323850" y="897565"/>
            <a:ext cx="8496300" cy="381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Woher kommen die Daten?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8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Lösung</a:t>
            </a:r>
            <a:endParaRPr/>
          </a:p>
        </p:txBody>
      </p:sp>
      <p:sp>
        <p:nvSpPr>
          <p:cNvPr id="149" name="Google Shape;149;p18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50" name="Google Shape;150;p18"/>
          <p:cNvSpPr txBox="1"/>
          <p:nvPr>
            <p:ph idx="1" type="body"/>
          </p:nvPr>
        </p:nvSpPr>
        <p:spPr>
          <a:xfrm>
            <a:off x="323850" y="897565"/>
            <a:ext cx="8496300" cy="381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Jedes System muss einen http-Endpoint bereitstellen, über den in einem Prometheus-unterstützten Format die Metriken bereitgestellt werden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Offener Punkt: Wie wird das konkret realisiert? </a:t>
            </a:r>
            <a:endParaRPr/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de-DE"/>
              <a:t>Das sieht mir nach enormen Aufwand aus, da die Anwendung angepasst werden muss</a:t>
            </a:r>
            <a:endParaRPr/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de-DE"/>
              <a:t>Lösung: Etwas später…</a:t>
            </a:r>
            <a:endParaRPr/>
          </a:p>
        </p:txBody>
      </p:sp>
      <p:sp>
        <p:nvSpPr>
          <p:cNvPr id="151" name="Google Shape;151;p18"/>
          <p:cNvSpPr/>
          <p:nvPr/>
        </p:nvSpPr>
        <p:spPr>
          <a:xfrm>
            <a:off x="177850" y="3304175"/>
            <a:ext cx="2017500" cy="1170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700"/>
              <a:t>Application</a:t>
            </a:r>
            <a:endParaRPr sz="2700"/>
          </a:p>
        </p:txBody>
      </p:sp>
      <p:sp>
        <p:nvSpPr>
          <p:cNvPr id="152" name="Google Shape;152;p18"/>
          <p:cNvSpPr/>
          <p:nvPr/>
        </p:nvSpPr>
        <p:spPr>
          <a:xfrm>
            <a:off x="1794800" y="3542875"/>
            <a:ext cx="1440000" cy="5466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Prometheus Endpoint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9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58" name="Google Shape;158;p19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Prometheus Gesamtbild</a:t>
            </a:r>
            <a:endParaRPr/>
          </a:p>
        </p:txBody>
      </p:sp>
      <p:sp>
        <p:nvSpPr>
          <p:cNvPr id="159" name="Google Shape;159;p19"/>
          <p:cNvSpPr/>
          <p:nvPr/>
        </p:nvSpPr>
        <p:spPr>
          <a:xfrm>
            <a:off x="81225" y="1272350"/>
            <a:ext cx="7380600" cy="1969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Prometheus Server</a:t>
            </a:r>
            <a:endParaRPr/>
          </a:p>
        </p:txBody>
      </p:sp>
      <p:sp>
        <p:nvSpPr>
          <p:cNvPr id="160" name="Google Shape;160;p19"/>
          <p:cNvSpPr/>
          <p:nvPr/>
        </p:nvSpPr>
        <p:spPr>
          <a:xfrm>
            <a:off x="2773325" y="1725775"/>
            <a:ext cx="1842087" cy="1245275"/>
          </a:xfrm>
          <a:prstGeom prst="flowChartMagneticDisk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Time Series Database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TSDB</a:t>
            </a:r>
            <a:endParaRPr/>
          </a:p>
        </p:txBody>
      </p:sp>
      <p:sp>
        <p:nvSpPr>
          <p:cNvPr id="161" name="Google Shape;161;p19"/>
          <p:cNvSpPr/>
          <p:nvPr/>
        </p:nvSpPr>
        <p:spPr>
          <a:xfrm>
            <a:off x="5222450" y="1725775"/>
            <a:ext cx="1807000" cy="1021925"/>
          </a:xfrm>
          <a:prstGeom prst="flowChartMagneticDrum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/>
              <a:t>Query Interpreter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>
                <a:highlight>
                  <a:srgbClr val="D0E0E3"/>
                </a:highlight>
              </a:rPr>
              <a:t>PromQL</a:t>
            </a:r>
            <a:endParaRPr sz="1200">
              <a:highlight>
                <a:srgbClr val="D0E0E3"/>
              </a:highlight>
            </a:endParaRPr>
          </a:p>
        </p:txBody>
      </p:sp>
      <p:sp>
        <p:nvSpPr>
          <p:cNvPr id="162" name="Google Shape;162;p19"/>
          <p:cNvSpPr/>
          <p:nvPr/>
        </p:nvSpPr>
        <p:spPr>
          <a:xfrm>
            <a:off x="4579525" y="2165675"/>
            <a:ext cx="642900" cy="3924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9"/>
          <p:cNvSpPr/>
          <p:nvPr/>
        </p:nvSpPr>
        <p:spPr>
          <a:xfrm>
            <a:off x="236875" y="1807000"/>
            <a:ext cx="1881300" cy="1055700"/>
          </a:xfrm>
          <a:prstGeom prst="ellipse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Scheduler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mit </a:t>
            </a:r>
            <a:r>
              <a:rPr lang="de-DE">
                <a:highlight>
                  <a:srgbClr val="D0E0E3"/>
                </a:highlight>
              </a:rPr>
              <a:t>Scraping </a:t>
            </a:r>
            <a:r>
              <a:rPr lang="de-DE"/>
              <a:t>von Daten</a:t>
            </a:r>
            <a:endParaRPr/>
          </a:p>
        </p:txBody>
      </p:sp>
      <p:sp>
        <p:nvSpPr>
          <p:cNvPr id="164" name="Google Shape;164;p19"/>
          <p:cNvSpPr/>
          <p:nvPr/>
        </p:nvSpPr>
        <p:spPr>
          <a:xfrm>
            <a:off x="2111550" y="2287500"/>
            <a:ext cx="642900" cy="270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9"/>
          <p:cNvSpPr/>
          <p:nvPr/>
        </p:nvSpPr>
        <p:spPr>
          <a:xfrm>
            <a:off x="7310450" y="1726025"/>
            <a:ext cx="1028700" cy="4872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Web Frontend</a:t>
            </a:r>
            <a:endParaRPr/>
          </a:p>
        </p:txBody>
      </p:sp>
      <p:sp>
        <p:nvSpPr>
          <p:cNvPr id="166" name="Google Shape;166;p19"/>
          <p:cNvSpPr/>
          <p:nvPr/>
        </p:nvSpPr>
        <p:spPr>
          <a:xfrm>
            <a:off x="7310450" y="2335625"/>
            <a:ext cx="1028700" cy="4872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REST Endpoints</a:t>
            </a:r>
            <a:endParaRPr/>
          </a:p>
        </p:txBody>
      </p:sp>
      <p:cxnSp>
        <p:nvCxnSpPr>
          <p:cNvPr id="167" name="Google Shape;167;p19"/>
          <p:cNvCxnSpPr>
            <a:stCxn id="165" idx="1"/>
            <a:endCxn id="161" idx="4"/>
          </p:cNvCxnSpPr>
          <p:nvPr/>
        </p:nvCxnSpPr>
        <p:spPr>
          <a:xfrm flipH="1">
            <a:off x="7029350" y="1969625"/>
            <a:ext cx="281100" cy="267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8" name="Google Shape;168;p19"/>
          <p:cNvCxnSpPr>
            <a:stCxn id="166" idx="1"/>
            <a:endCxn id="161" idx="4"/>
          </p:cNvCxnSpPr>
          <p:nvPr/>
        </p:nvCxnSpPr>
        <p:spPr>
          <a:xfrm rot="10800000">
            <a:off x="7029350" y="2236625"/>
            <a:ext cx="281100" cy="34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9" name="Google Shape;169;p19"/>
          <p:cNvSpPr/>
          <p:nvPr/>
        </p:nvSpPr>
        <p:spPr>
          <a:xfrm>
            <a:off x="7700600" y="802375"/>
            <a:ext cx="1355100" cy="4872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Browser</a:t>
            </a:r>
            <a:endParaRPr/>
          </a:p>
        </p:txBody>
      </p:sp>
      <p:sp>
        <p:nvSpPr>
          <p:cNvPr id="170" name="Google Shape;170;p19"/>
          <p:cNvSpPr/>
          <p:nvPr/>
        </p:nvSpPr>
        <p:spPr>
          <a:xfrm>
            <a:off x="7908500" y="1302875"/>
            <a:ext cx="246300" cy="3924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9"/>
          <p:cNvSpPr/>
          <p:nvPr/>
        </p:nvSpPr>
        <p:spPr>
          <a:xfrm>
            <a:off x="147050" y="3632075"/>
            <a:ext cx="2017500" cy="1170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Application</a:t>
            </a:r>
            <a:endParaRPr/>
          </a:p>
        </p:txBody>
      </p:sp>
      <p:sp>
        <p:nvSpPr>
          <p:cNvPr id="172" name="Google Shape;172;p19"/>
          <p:cNvSpPr/>
          <p:nvPr/>
        </p:nvSpPr>
        <p:spPr>
          <a:xfrm>
            <a:off x="392400" y="3413575"/>
            <a:ext cx="1440000" cy="5466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Prometheus Endpoint</a:t>
            </a:r>
            <a:endParaRPr/>
          </a:p>
        </p:txBody>
      </p:sp>
      <p:sp>
        <p:nvSpPr>
          <p:cNvPr id="173" name="Google Shape;173;p19"/>
          <p:cNvSpPr/>
          <p:nvPr/>
        </p:nvSpPr>
        <p:spPr>
          <a:xfrm>
            <a:off x="1024825" y="2835150"/>
            <a:ext cx="281100" cy="5937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9"/>
          <p:cNvSpPr/>
          <p:nvPr/>
        </p:nvSpPr>
        <p:spPr>
          <a:xfrm>
            <a:off x="375650" y="3708275"/>
            <a:ext cx="2017500" cy="1170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Application</a:t>
            </a:r>
            <a:endParaRPr/>
          </a:p>
        </p:txBody>
      </p:sp>
      <p:sp>
        <p:nvSpPr>
          <p:cNvPr id="175" name="Google Shape;175;p19"/>
          <p:cNvSpPr/>
          <p:nvPr/>
        </p:nvSpPr>
        <p:spPr>
          <a:xfrm>
            <a:off x="621000" y="3489775"/>
            <a:ext cx="1440000" cy="5466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Prometheus Endpoint</a:t>
            </a:r>
            <a:endParaRPr/>
          </a:p>
        </p:txBody>
      </p:sp>
      <p:sp>
        <p:nvSpPr>
          <p:cNvPr id="176" name="Google Shape;176;p19"/>
          <p:cNvSpPr/>
          <p:nvPr/>
        </p:nvSpPr>
        <p:spPr>
          <a:xfrm>
            <a:off x="528050" y="3852271"/>
            <a:ext cx="2017500" cy="1170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Application</a:t>
            </a:r>
            <a:endParaRPr/>
          </a:p>
        </p:txBody>
      </p:sp>
      <p:sp>
        <p:nvSpPr>
          <p:cNvPr id="177" name="Google Shape;177;p19"/>
          <p:cNvSpPr/>
          <p:nvPr/>
        </p:nvSpPr>
        <p:spPr>
          <a:xfrm>
            <a:off x="773400" y="3642175"/>
            <a:ext cx="1440000" cy="5466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Prometheus Endpoint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0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83" name="Google Shape;183;p20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Der Prometheus Server</a:t>
            </a:r>
            <a:endParaRPr/>
          </a:p>
        </p:txBody>
      </p:sp>
      <p:sp>
        <p:nvSpPr>
          <p:cNvPr id="184" name="Google Shape;184;p20"/>
          <p:cNvSpPr/>
          <p:nvPr/>
        </p:nvSpPr>
        <p:spPr>
          <a:xfrm>
            <a:off x="81225" y="1272350"/>
            <a:ext cx="7380600" cy="1969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Prometheus</a:t>
            </a:r>
            <a:endParaRPr/>
          </a:p>
        </p:txBody>
      </p:sp>
      <p:sp>
        <p:nvSpPr>
          <p:cNvPr id="185" name="Google Shape;185;p20"/>
          <p:cNvSpPr/>
          <p:nvPr/>
        </p:nvSpPr>
        <p:spPr>
          <a:xfrm>
            <a:off x="2773325" y="1725775"/>
            <a:ext cx="1842087" cy="1245275"/>
          </a:xfrm>
          <a:prstGeom prst="flowChartMagneticDisk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Time Series Database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TSDB</a:t>
            </a:r>
            <a:endParaRPr/>
          </a:p>
        </p:txBody>
      </p:sp>
      <p:sp>
        <p:nvSpPr>
          <p:cNvPr id="186" name="Google Shape;186;p20"/>
          <p:cNvSpPr/>
          <p:nvPr/>
        </p:nvSpPr>
        <p:spPr>
          <a:xfrm>
            <a:off x="5222450" y="1725775"/>
            <a:ext cx="1807000" cy="1021925"/>
          </a:xfrm>
          <a:prstGeom prst="flowChartMagneticDrum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/>
              <a:t>Query Interpreter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>
                <a:highlight>
                  <a:srgbClr val="D0E0E3"/>
                </a:highlight>
              </a:rPr>
              <a:t>PromQL</a:t>
            </a:r>
            <a:endParaRPr sz="1200">
              <a:highlight>
                <a:srgbClr val="D0E0E3"/>
              </a:highlight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4579525" y="2165675"/>
            <a:ext cx="642900" cy="3924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0"/>
          <p:cNvSpPr/>
          <p:nvPr/>
        </p:nvSpPr>
        <p:spPr>
          <a:xfrm>
            <a:off x="236875" y="1807000"/>
            <a:ext cx="1881300" cy="1055700"/>
          </a:xfrm>
          <a:prstGeom prst="ellipse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Scheduler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mit </a:t>
            </a:r>
            <a:r>
              <a:rPr lang="de-DE">
                <a:highlight>
                  <a:srgbClr val="D0E0E3"/>
                </a:highlight>
              </a:rPr>
              <a:t>Scraping </a:t>
            </a:r>
            <a:r>
              <a:rPr lang="de-DE"/>
              <a:t>von Daten</a:t>
            </a:r>
            <a:endParaRPr/>
          </a:p>
        </p:txBody>
      </p:sp>
      <p:sp>
        <p:nvSpPr>
          <p:cNvPr id="189" name="Google Shape;189;p20"/>
          <p:cNvSpPr/>
          <p:nvPr/>
        </p:nvSpPr>
        <p:spPr>
          <a:xfrm>
            <a:off x="2111550" y="2287500"/>
            <a:ext cx="642900" cy="270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0"/>
          <p:cNvSpPr/>
          <p:nvPr/>
        </p:nvSpPr>
        <p:spPr>
          <a:xfrm>
            <a:off x="7310450" y="1726025"/>
            <a:ext cx="1028700" cy="4872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Web Frontend</a:t>
            </a:r>
            <a:endParaRPr/>
          </a:p>
        </p:txBody>
      </p:sp>
      <p:sp>
        <p:nvSpPr>
          <p:cNvPr id="191" name="Google Shape;191;p20"/>
          <p:cNvSpPr/>
          <p:nvPr/>
        </p:nvSpPr>
        <p:spPr>
          <a:xfrm>
            <a:off x="7310450" y="2335625"/>
            <a:ext cx="1028700" cy="4872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REST Endpoints</a:t>
            </a:r>
            <a:endParaRPr/>
          </a:p>
        </p:txBody>
      </p:sp>
      <p:cxnSp>
        <p:nvCxnSpPr>
          <p:cNvPr id="192" name="Google Shape;192;p20"/>
          <p:cNvCxnSpPr>
            <a:stCxn id="190" idx="1"/>
            <a:endCxn id="186" idx="4"/>
          </p:cNvCxnSpPr>
          <p:nvPr/>
        </p:nvCxnSpPr>
        <p:spPr>
          <a:xfrm flipH="1">
            <a:off x="7029350" y="1969625"/>
            <a:ext cx="281100" cy="267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3" name="Google Shape;193;p20"/>
          <p:cNvCxnSpPr>
            <a:stCxn id="191" idx="1"/>
            <a:endCxn id="186" idx="4"/>
          </p:cNvCxnSpPr>
          <p:nvPr/>
        </p:nvCxnSpPr>
        <p:spPr>
          <a:xfrm rot="10800000">
            <a:off x="7029350" y="2236625"/>
            <a:ext cx="281100" cy="34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4" name="Google Shape;194;p20"/>
          <p:cNvSpPr/>
          <p:nvPr/>
        </p:nvSpPr>
        <p:spPr>
          <a:xfrm>
            <a:off x="7700600" y="802375"/>
            <a:ext cx="1355100" cy="4872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Browser</a:t>
            </a:r>
            <a:endParaRPr/>
          </a:p>
        </p:txBody>
      </p:sp>
      <p:sp>
        <p:nvSpPr>
          <p:cNvPr id="195" name="Google Shape;195;p20"/>
          <p:cNvSpPr/>
          <p:nvPr/>
        </p:nvSpPr>
        <p:spPr>
          <a:xfrm>
            <a:off x="7908500" y="1302875"/>
            <a:ext cx="246300" cy="3924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0"/>
          <p:cNvSpPr/>
          <p:nvPr/>
        </p:nvSpPr>
        <p:spPr>
          <a:xfrm>
            <a:off x="147050" y="3632075"/>
            <a:ext cx="2017500" cy="1170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Application</a:t>
            </a:r>
            <a:endParaRPr/>
          </a:p>
        </p:txBody>
      </p:sp>
      <p:sp>
        <p:nvSpPr>
          <p:cNvPr id="197" name="Google Shape;197;p20"/>
          <p:cNvSpPr/>
          <p:nvPr/>
        </p:nvSpPr>
        <p:spPr>
          <a:xfrm>
            <a:off x="392400" y="3413575"/>
            <a:ext cx="1440000" cy="5466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Prometheus Endpoint</a:t>
            </a:r>
            <a:endParaRPr/>
          </a:p>
        </p:txBody>
      </p:sp>
      <p:sp>
        <p:nvSpPr>
          <p:cNvPr id="198" name="Google Shape;198;p20"/>
          <p:cNvSpPr/>
          <p:nvPr/>
        </p:nvSpPr>
        <p:spPr>
          <a:xfrm>
            <a:off x="1024825" y="2835150"/>
            <a:ext cx="281100" cy="5937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9" name="Google Shape;199;p20"/>
          <p:cNvCxnSpPr/>
          <p:nvPr/>
        </p:nvCxnSpPr>
        <p:spPr>
          <a:xfrm rot="10800000">
            <a:off x="1425125" y="2873625"/>
            <a:ext cx="7800" cy="531300"/>
          </a:xfrm>
          <a:prstGeom prst="straightConnector1">
            <a:avLst/>
          </a:prstGeom>
          <a:noFill/>
          <a:ln cap="flat" cmpd="sng" w="9525">
            <a:solidFill>
              <a:srgbClr val="00FF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0" name="Google Shape;200;p20"/>
          <p:cNvCxnSpPr/>
          <p:nvPr/>
        </p:nvCxnSpPr>
        <p:spPr>
          <a:xfrm flipH="1" rot="10800000">
            <a:off x="2048900" y="2619450"/>
            <a:ext cx="700800" cy="7800"/>
          </a:xfrm>
          <a:prstGeom prst="straightConnector1">
            <a:avLst/>
          </a:prstGeom>
          <a:noFill/>
          <a:ln cap="flat" cmpd="sng" w="9525">
            <a:solidFill>
              <a:srgbClr val="00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1" name="Google Shape;201;p20"/>
          <p:cNvSpPr/>
          <p:nvPr/>
        </p:nvSpPr>
        <p:spPr>
          <a:xfrm>
            <a:off x="3065275" y="3905425"/>
            <a:ext cx="1917300" cy="487200"/>
          </a:xfrm>
          <a:prstGeom prst="rect">
            <a:avLst/>
          </a:prstGeom>
          <a:solidFill>
            <a:srgbClr val="00FFFF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Datenfluss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77715"/>
            <a:ext cx="5049053" cy="228845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1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  <a:ln cap="flat" cmpd="sng" w="9525">
            <a:solidFill>
              <a:srgbClr val="EAD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Prometheus und </a:t>
            </a:r>
            <a:r>
              <a:rPr lang="de-DE">
                <a:highlight>
                  <a:srgbClr val="EAD1DC"/>
                </a:highlight>
              </a:rPr>
              <a:t>Grafana</a:t>
            </a:r>
            <a:endParaRPr>
              <a:highlight>
                <a:srgbClr val="EAD1DC"/>
              </a:highlight>
            </a:endParaRPr>
          </a:p>
        </p:txBody>
      </p:sp>
      <p:sp>
        <p:nvSpPr>
          <p:cNvPr id="208" name="Google Shape;208;p21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09" name="Google Shape;209;p21"/>
          <p:cNvSpPr/>
          <p:nvPr/>
        </p:nvSpPr>
        <p:spPr>
          <a:xfrm>
            <a:off x="5883425" y="2088250"/>
            <a:ext cx="3018300" cy="931800"/>
          </a:xfrm>
          <a:prstGeom prst="rect">
            <a:avLst/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Grafana Server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1"/>
          <p:cNvSpPr/>
          <p:nvPr/>
        </p:nvSpPr>
        <p:spPr>
          <a:xfrm>
            <a:off x="4790050" y="2342350"/>
            <a:ext cx="1070400" cy="2079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1" name="Google Shape;211;p21"/>
          <p:cNvCxnSpPr/>
          <p:nvPr/>
        </p:nvCxnSpPr>
        <p:spPr>
          <a:xfrm flipH="1">
            <a:off x="4859225" y="2302490"/>
            <a:ext cx="978000" cy="780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2" name="Google Shape;212;p21"/>
          <p:cNvCxnSpPr/>
          <p:nvPr/>
        </p:nvCxnSpPr>
        <p:spPr>
          <a:xfrm>
            <a:off x="4890150" y="2594288"/>
            <a:ext cx="931800" cy="0"/>
          </a:xfrm>
          <a:prstGeom prst="straightConnector1">
            <a:avLst/>
          </a:prstGeom>
          <a:noFill/>
          <a:ln cap="flat" cmpd="sng" w="9525">
            <a:solidFill>
              <a:srgbClr val="00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3" name="Google Shape;213;p21"/>
          <p:cNvSpPr/>
          <p:nvPr/>
        </p:nvSpPr>
        <p:spPr>
          <a:xfrm>
            <a:off x="5925925" y="3775375"/>
            <a:ext cx="2966700" cy="865500"/>
          </a:xfrm>
          <a:prstGeom prst="rect">
            <a:avLst/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+"/>
            </a:pPr>
            <a:r>
              <a:rPr lang="de-DE"/>
              <a:t>Komfortabler PromQL-Editor</a:t>
            </a:r>
            <a:endParaRPr/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+"/>
            </a:pPr>
            <a:r>
              <a:rPr lang="de-DE"/>
              <a:t>Panels zur Visualisierung</a:t>
            </a:r>
            <a:endParaRPr/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+"/>
            </a:pPr>
            <a:r>
              <a:rPr lang="de-DE"/>
              <a:t>Alertmanager</a:t>
            </a:r>
            <a:endParaRPr/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+"/>
            </a:pPr>
            <a:r>
              <a:rPr lang="de-DE"/>
              <a:t>Eventmanager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2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  <a:ln cap="flat" cmpd="sng" w="9525">
            <a:solidFill>
              <a:srgbClr val="EAD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… und </a:t>
            </a:r>
            <a:r>
              <a:rPr lang="de-DE">
                <a:highlight>
                  <a:srgbClr val="EAD1DC"/>
                </a:highlight>
              </a:rPr>
              <a:t>Grafana</a:t>
            </a:r>
            <a:endParaRPr>
              <a:highlight>
                <a:srgbClr val="EAD1DC"/>
              </a:highlight>
            </a:endParaRPr>
          </a:p>
        </p:txBody>
      </p:sp>
      <p:sp>
        <p:nvSpPr>
          <p:cNvPr id="219" name="Google Shape;219;p22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20" name="Google Shape;220;p22"/>
          <p:cNvSpPr/>
          <p:nvPr/>
        </p:nvSpPr>
        <p:spPr>
          <a:xfrm>
            <a:off x="5883425" y="2088250"/>
            <a:ext cx="3018300" cy="931800"/>
          </a:xfrm>
          <a:prstGeom prst="rect">
            <a:avLst/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Grafana Server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2"/>
          <p:cNvSpPr/>
          <p:nvPr/>
        </p:nvSpPr>
        <p:spPr>
          <a:xfrm>
            <a:off x="4790050" y="2342350"/>
            <a:ext cx="1070400" cy="2079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2" name="Google Shape;222;p22"/>
          <p:cNvCxnSpPr/>
          <p:nvPr/>
        </p:nvCxnSpPr>
        <p:spPr>
          <a:xfrm flipH="1">
            <a:off x="4859225" y="2302490"/>
            <a:ext cx="978000" cy="780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3" name="Google Shape;223;p22"/>
          <p:cNvCxnSpPr/>
          <p:nvPr/>
        </p:nvCxnSpPr>
        <p:spPr>
          <a:xfrm>
            <a:off x="4890150" y="2594288"/>
            <a:ext cx="931800" cy="0"/>
          </a:xfrm>
          <a:prstGeom prst="straightConnector1">
            <a:avLst/>
          </a:prstGeom>
          <a:noFill/>
          <a:ln cap="flat" cmpd="sng" w="9525">
            <a:solidFill>
              <a:srgbClr val="00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4" name="Google Shape;224;p22"/>
          <p:cNvSpPr/>
          <p:nvPr/>
        </p:nvSpPr>
        <p:spPr>
          <a:xfrm>
            <a:off x="5925925" y="3775375"/>
            <a:ext cx="2966700" cy="865500"/>
          </a:xfrm>
          <a:prstGeom prst="rect">
            <a:avLst/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+"/>
            </a:pPr>
            <a:r>
              <a:rPr lang="de-DE"/>
              <a:t>Komfortabler PromQL-Editor</a:t>
            </a:r>
            <a:endParaRPr/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+"/>
            </a:pPr>
            <a:r>
              <a:rPr lang="de-DE"/>
              <a:t>Panels zur Visualisierung</a:t>
            </a:r>
            <a:endParaRPr/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+"/>
            </a:pPr>
            <a:r>
              <a:rPr lang="de-DE"/>
              <a:t>Alertmanager</a:t>
            </a:r>
            <a:endParaRPr/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+"/>
            </a:pPr>
            <a:r>
              <a:rPr lang="de-DE"/>
              <a:t>Eventmanager</a:t>
            </a:r>
            <a:endParaRPr/>
          </a:p>
        </p:txBody>
      </p:sp>
      <p:sp>
        <p:nvSpPr>
          <p:cNvPr id="225" name="Google Shape;225;p22"/>
          <p:cNvSpPr/>
          <p:nvPr/>
        </p:nvSpPr>
        <p:spPr>
          <a:xfrm>
            <a:off x="252950" y="1741500"/>
            <a:ext cx="4637196" cy="2109456"/>
          </a:xfrm>
          <a:prstGeom prst="clou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Datenquelle / Datenbank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z.B. Loki mit Logdateien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3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Eine fertige Umgebung Teil 1</a:t>
            </a:r>
            <a:endParaRPr/>
          </a:p>
        </p:txBody>
      </p:sp>
      <p:sp>
        <p:nvSpPr>
          <p:cNvPr id="231" name="Google Shape;231;p23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32" name="Google Shape;232;p23"/>
          <p:cNvSpPr/>
          <p:nvPr/>
        </p:nvSpPr>
        <p:spPr>
          <a:xfrm>
            <a:off x="200950" y="1264375"/>
            <a:ext cx="3696000" cy="2286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Host-Rechner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Linux-Distribution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javacream.eu</a:t>
            </a:r>
            <a:endParaRPr/>
          </a:p>
        </p:txBody>
      </p:sp>
      <p:sp>
        <p:nvSpPr>
          <p:cNvPr id="233" name="Google Shape;233;p23"/>
          <p:cNvSpPr/>
          <p:nvPr/>
        </p:nvSpPr>
        <p:spPr>
          <a:xfrm>
            <a:off x="3365575" y="2296150"/>
            <a:ext cx="1424400" cy="6468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Prometheus Endpoint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9100/metrics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4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Eine fertige Umgebung Teil 2</a:t>
            </a:r>
            <a:endParaRPr/>
          </a:p>
        </p:txBody>
      </p:sp>
      <p:sp>
        <p:nvSpPr>
          <p:cNvPr id="239" name="Google Shape;239;p24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40" name="Google Shape;240;p24"/>
          <p:cNvSpPr/>
          <p:nvPr/>
        </p:nvSpPr>
        <p:spPr>
          <a:xfrm>
            <a:off x="81225" y="1272350"/>
            <a:ext cx="7380600" cy="1969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Prometheus auf javacream.eu</a:t>
            </a:r>
            <a:endParaRPr/>
          </a:p>
        </p:txBody>
      </p:sp>
      <p:sp>
        <p:nvSpPr>
          <p:cNvPr id="241" name="Google Shape;241;p24"/>
          <p:cNvSpPr/>
          <p:nvPr/>
        </p:nvSpPr>
        <p:spPr>
          <a:xfrm>
            <a:off x="2773325" y="1725775"/>
            <a:ext cx="1842087" cy="1245275"/>
          </a:xfrm>
          <a:prstGeom prst="flowChartMagneticDisk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Time Series Database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TSDB</a:t>
            </a:r>
            <a:endParaRPr/>
          </a:p>
        </p:txBody>
      </p:sp>
      <p:sp>
        <p:nvSpPr>
          <p:cNvPr id="242" name="Google Shape;242;p24"/>
          <p:cNvSpPr/>
          <p:nvPr/>
        </p:nvSpPr>
        <p:spPr>
          <a:xfrm>
            <a:off x="5222450" y="1725775"/>
            <a:ext cx="1807000" cy="1021925"/>
          </a:xfrm>
          <a:prstGeom prst="flowChartMagneticDrum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/>
              <a:t>Query Interpreter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>
                <a:highlight>
                  <a:srgbClr val="D0E0E3"/>
                </a:highlight>
              </a:rPr>
              <a:t>PromQL</a:t>
            </a:r>
            <a:endParaRPr sz="1200">
              <a:highlight>
                <a:srgbClr val="D0E0E3"/>
              </a:highlight>
            </a:endParaRPr>
          </a:p>
        </p:txBody>
      </p:sp>
      <p:sp>
        <p:nvSpPr>
          <p:cNvPr id="243" name="Google Shape;243;p24"/>
          <p:cNvSpPr/>
          <p:nvPr/>
        </p:nvSpPr>
        <p:spPr>
          <a:xfrm>
            <a:off x="4579525" y="2165675"/>
            <a:ext cx="642900" cy="3924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4"/>
          <p:cNvSpPr/>
          <p:nvPr/>
        </p:nvSpPr>
        <p:spPr>
          <a:xfrm>
            <a:off x="236875" y="1807000"/>
            <a:ext cx="1881300" cy="1055700"/>
          </a:xfrm>
          <a:prstGeom prst="ellipse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Scheduler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mit </a:t>
            </a:r>
            <a:r>
              <a:rPr lang="de-DE">
                <a:highlight>
                  <a:srgbClr val="D0E0E3"/>
                </a:highlight>
              </a:rPr>
              <a:t>Scraping </a:t>
            </a:r>
            <a:r>
              <a:rPr lang="de-DE"/>
              <a:t>von Daten</a:t>
            </a:r>
            <a:endParaRPr/>
          </a:p>
        </p:txBody>
      </p:sp>
      <p:sp>
        <p:nvSpPr>
          <p:cNvPr id="245" name="Google Shape;245;p24"/>
          <p:cNvSpPr/>
          <p:nvPr/>
        </p:nvSpPr>
        <p:spPr>
          <a:xfrm>
            <a:off x="2111550" y="2287500"/>
            <a:ext cx="642900" cy="270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4"/>
          <p:cNvSpPr/>
          <p:nvPr/>
        </p:nvSpPr>
        <p:spPr>
          <a:xfrm>
            <a:off x="7310450" y="1726025"/>
            <a:ext cx="1028700" cy="777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Web Frontend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9090</a:t>
            </a:r>
            <a:endParaRPr/>
          </a:p>
        </p:txBody>
      </p:sp>
      <p:cxnSp>
        <p:nvCxnSpPr>
          <p:cNvPr id="247" name="Google Shape;247;p24"/>
          <p:cNvCxnSpPr>
            <a:stCxn id="246" idx="1"/>
            <a:endCxn id="242" idx="4"/>
          </p:cNvCxnSpPr>
          <p:nvPr/>
        </p:nvCxnSpPr>
        <p:spPr>
          <a:xfrm flipH="1">
            <a:off x="7029350" y="2114975"/>
            <a:ext cx="281100" cy="12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5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Eine fertige Umgebung Teil 3</a:t>
            </a:r>
            <a:endParaRPr/>
          </a:p>
        </p:txBody>
      </p:sp>
      <p:sp>
        <p:nvSpPr>
          <p:cNvPr id="253" name="Google Shape;253;p25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54" name="Google Shape;254;p25"/>
          <p:cNvSpPr txBox="1"/>
          <p:nvPr>
            <p:ph idx="1" type="body"/>
          </p:nvPr>
        </p:nvSpPr>
        <p:spPr>
          <a:xfrm>
            <a:off x="323850" y="897565"/>
            <a:ext cx="8496300" cy="381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Konfiguration des Prometheus-Servers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"Frage den Endpunkt </a:t>
            </a:r>
            <a:r>
              <a:rPr lang="de-DE" u="sng">
                <a:solidFill>
                  <a:schemeClr val="hlink"/>
                </a:solidFill>
                <a:hlinkClick r:id="rId3"/>
              </a:rPr>
              <a:t>http://javacream.eu:9100</a:t>
            </a:r>
            <a:r>
              <a:rPr lang="de-DE"/>
              <a:t> alle 15 Sekunden ab"</a:t>
            </a:r>
            <a:endParaRPr/>
          </a:p>
        </p:txBody>
      </p:sp>
      <p:pic>
        <p:nvPicPr>
          <p:cNvPr id="255" name="Google Shape;255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73000" y="1672450"/>
            <a:ext cx="2079425" cy="298594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6" name="Google Shape;256;p25"/>
          <p:cNvCxnSpPr>
            <a:endCxn id="255" idx="2"/>
          </p:cNvCxnSpPr>
          <p:nvPr/>
        </p:nvCxnSpPr>
        <p:spPr>
          <a:xfrm flipH="1">
            <a:off x="2412712" y="1657200"/>
            <a:ext cx="2654400" cy="300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7" name="Google Shape;257;p25"/>
          <p:cNvCxnSpPr>
            <a:endCxn id="255" idx="0"/>
          </p:cNvCxnSpPr>
          <p:nvPr/>
        </p:nvCxnSpPr>
        <p:spPr>
          <a:xfrm flipH="1">
            <a:off x="2412712" y="1502950"/>
            <a:ext cx="4125300" cy="16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6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Scraping</a:t>
            </a:r>
            <a:endParaRPr/>
          </a:p>
        </p:txBody>
      </p:sp>
      <p:sp>
        <p:nvSpPr>
          <p:cNvPr id="263" name="Google Shape;263;p26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64" name="Google Shape;264;p26"/>
          <p:cNvSpPr txBox="1"/>
          <p:nvPr>
            <p:ph idx="1" type="body"/>
          </p:nvPr>
        </p:nvSpPr>
        <p:spPr>
          <a:xfrm>
            <a:off x="323850" y="897565"/>
            <a:ext cx="8496300" cy="381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In der Frequenz des Scraping-Intervals werden die Metrik-Seiten aufgerufen und die Ergebnisse in der TSDB abgelegt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Dies erfolgt in einer statischen Konfiguration unter Angabe einer URL und eines Job-Namens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Jeder Metrik-Identifier wird automatisch mit den Labeln job und instance ergänzt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Hinweis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Eine dynamische Konfiguration ist für Anwendungen in einer Orchestrierung notwendig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7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Metriken Reviewed</a:t>
            </a:r>
            <a:endParaRPr/>
          </a:p>
        </p:txBody>
      </p:sp>
      <p:sp>
        <p:nvSpPr>
          <p:cNvPr id="270" name="Google Shape;270;p27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71" name="Google Shape;271;p27"/>
          <p:cNvSpPr txBox="1"/>
          <p:nvPr>
            <p:ph idx="1" type="body"/>
          </p:nvPr>
        </p:nvSpPr>
        <p:spPr>
          <a:xfrm>
            <a:off x="323850" y="897565"/>
            <a:ext cx="8496300" cy="381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Metrik bisher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Identifier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Label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Wert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Einheit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Zusätzlich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Zeitstempel, der Zeitpunkt des Scrape-Vorgangs initiiert über Prometheus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Typ-Information</a:t>
            </a:r>
            <a:endParaRPr/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de-DE"/>
              <a:t>Damit besteht eine Metrik gegebenenfalls aus mehreren zusammengehörigen Identifier / Label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8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Metrik Typen </a:t>
            </a:r>
            <a:r>
              <a:rPr lang="de-DE" sz="1000"/>
              <a:t>in Prometheus</a:t>
            </a:r>
            <a:endParaRPr sz="1000"/>
          </a:p>
        </p:txBody>
      </p:sp>
      <p:sp>
        <p:nvSpPr>
          <p:cNvPr id="277" name="Google Shape;277;p28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78" name="Google Shape;278;p28"/>
          <p:cNvSpPr txBox="1"/>
          <p:nvPr>
            <p:ph idx="1" type="body"/>
          </p:nvPr>
        </p:nvSpPr>
        <p:spPr>
          <a:xfrm>
            <a:off x="323850" y="897565"/>
            <a:ext cx="8496300" cy="381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Counter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Eine Einzelmetrik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Wert kann nur größer werden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Ganzzahlen, Fließkommazahlen sind aber auch möglich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Gauge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Eine Einzelmetrik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kann einen beliebigen Wert annehmen</a:t>
            </a:r>
            <a:endParaRPr/>
          </a:p>
        </p:txBody>
      </p:sp>
      <p:sp>
        <p:nvSpPr>
          <p:cNvPr id="279" name="Google Shape;279;p28"/>
          <p:cNvSpPr/>
          <p:nvPr/>
        </p:nvSpPr>
        <p:spPr>
          <a:xfrm>
            <a:off x="278150" y="3531650"/>
            <a:ext cx="8496300" cy="10506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Neben den Einzelmetriken gibt es auch zusammengesetzte Metriken, z.B. ein Histrogramm/eine Summary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9"/>
          <p:cNvSpPr txBox="1"/>
          <p:nvPr>
            <p:ph idx="1" type="body"/>
          </p:nvPr>
        </p:nvSpPr>
        <p:spPr>
          <a:xfrm>
            <a:off x="323850" y="897565"/>
            <a:ext cx="8496300" cy="381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Beispiel: Web Server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Anzahl der verarbeiteten Requests insgesamt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Anzahl der übertragenen Daten der letzten 5 Minuten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Wie werden diese Metriken vom Typ her abgebildet, Counter oder Gauge?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Was muss sich das System merken?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Was steht in der Prometheus-Datenbank?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Wie werden sich die Metriken bei einem Serverneustart verhalten?</a:t>
            </a:r>
            <a:endParaRPr/>
          </a:p>
        </p:txBody>
      </p:sp>
      <p:sp>
        <p:nvSpPr>
          <p:cNvPr id="285" name="Google Shape;285;p29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ToDo</a:t>
            </a:r>
            <a:endParaRPr/>
          </a:p>
        </p:txBody>
      </p:sp>
      <p:sp>
        <p:nvSpPr>
          <p:cNvPr id="286" name="Google Shape;286;p29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0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Diskussion</a:t>
            </a:r>
            <a:endParaRPr/>
          </a:p>
        </p:txBody>
      </p:sp>
      <p:sp>
        <p:nvSpPr>
          <p:cNvPr id="292" name="Google Shape;292;p30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93" name="Google Shape;293;p30"/>
          <p:cNvSpPr txBox="1"/>
          <p:nvPr>
            <p:ph idx="1" type="body"/>
          </p:nvPr>
        </p:nvSpPr>
        <p:spPr>
          <a:xfrm>
            <a:off x="323850" y="897565"/>
            <a:ext cx="8496300" cy="381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Die Anzahl der verarbeiteten Requests ist eine fortlaufende Nummer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Damit ein Counter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Nun zu den übertragenen Daten der letzten 5 Minuten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Es schaut so aus, als wäre das eine Gauge, da sich dieser Wert ja nach oben und unten verändern wird</a:t>
            </a:r>
            <a:endParaRPr/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de-DE"/>
              <a:t>Die Berechnung dieses Wertes kann die Applikation machen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▪"/>
            </a:pPr>
            <a:r>
              <a:rPr lang="de-DE"/>
              <a:t>Was passiert aber, wenn bei der Analyse eine andere Mittelung erfolgen soll, z.B. alle 10 Minuten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▪"/>
            </a:pPr>
            <a:r>
              <a:rPr lang="de-DE"/>
              <a:t>Das passt nicht!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Es ist auch möglich, das über einen Counter-Wert zu machen</a:t>
            </a:r>
            <a:endParaRPr/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de-DE"/>
              <a:t>Einfach in der Applikation eine einzige Variable merken, die hochgezählt wird</a:t>
            </a:r>
            <a:endParaRPr/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de-DE"/>
              <a:t>Die Mittelung erfolgt dann über die in Prometheus erfassten Werte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1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Diskussion</a:t>
            </a:r>
            <a:endParaRPr/>
          </a:p>
        </p:txBody>
      </p:sp>
      <p:sp>
        <p:nvSpPr>
          <p:cNvPr id="299" name="Google Shape;299;p31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300" name="Google Shape;300;p31"/>
          <p:cNvSpPr txBox="1"/>
          <p:nvPr>
            <p:ph idx="1" type="body"/>
          </p:nvPr>
        </p:nvSpPr>
        <p:spPr>
          <a:xfrm>
            <a:off x="323850" y="897565"/>
            <a:ext cx="8496300" cy="381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Counter vs. Gauge bei Neustart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Counter ist trivial, er beginnt beim Neustart einfach bei Null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Gauge ist viel komplexer, der Prozess müsste den letzten Wert immer speichern, um dann korrekt bestimmt zu werden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In der Auswertung sind Counter Reset-sicher!</a:t>
            </a:r>
            <a:endParaRPr/>
          </a:p>
        </p:txBody>
      </p:sp>
      <p:cxnSp>
        <p:nvCxnSpPr>
          <p:cNvPr id="301" name="Google Shape;301;p31"/>
          <p:cNvCxnSpPr/>
          <p:nvPr/>
        </p:nvCxnSpPr>
        <p:spPr>
          <a:xfrm>
            <a:off x="824625" y="2804350"/>
            <a:ext cx="0" cy="159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2" name="Google Shape;302;p31"/>
          <p:cNvCxnSpPr/>
          <p:nvPr/>
        </p:nvCxnSpPr>
        <p:spPr>
          <a:xfrm>
            <a:off x="578225" y="4275025"/>
            <a:ext cx="7260900" cy="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3" name="Google Shape;303;p31"/>
          <p:cNvCxnSpPr/>
          <p:nvPr/>
        </p:nvCxnSpPr>
        <p:spPr>
          <a:xfrm flipH="1" rot="10800000">
            <a:off x="832325" y="4128825"/>
            <a:ext cx="400500" cy="15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4" name="Google Shape;304;p31"/>
          <p:cNvCxnSpPr/>
          <p:nvPr/>
        </p:nvCxnSpPr>
        <p:spPr>
          <a:xfrm flipH="1" rot="10800000">
            <a:off x="1240425" y="3843925"/>
            <a:ext cx="300300" cy="269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5" name="Google Shape;305;p31"/>
          <p:cNvCxnSpPr/>
          <p:nvPr/>
        </p:nvCxnSpPr>
        <p:spPr>
          <a:xfrm flipH="1" rot="10800000">
            <a:off x="1533025" y="3658925"/>
            <a:ext cx="331200" cy="19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6" name="Google Shape;306;p31"/>
          <p:cNvCxnSpPr/>
          <p:nvPr/>
        </p:nvCxnSpPr>
        <p:spPr>
          <a:xfrm flipH="1" rot="10800000">
            <a:off x="1995000" y="4090225"/>
            <a:ext cx="338700" cy="18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7" name="Google Shape;307;p31"/>
          <p:cNvSpPr txBox="1"/>
          <p:nvPr/>
        </p:nvSpPr>
        <p:spPr>
          <a:xfrm>
            <a:off x="1810200" y="3417928"/>
            <a:ext cx="4005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600">
                <a:solidFill>
                  <a:schemeClr val="dk1"/>
                </a:solidFill>
              </a:rPr>
              <a:t>42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308" name="Google Shape;308;p31"/>
          <p:cNvSpPr txBox="1"/>
          <p:nvPr/>
        </p:nvSpPr>
        <p:spPr>
          <a:xfrm>
            <a:off x="2343600" y="3951328"/>
            <a:ext cx="4005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600">
                <a:solidFill>
                  <a:schemeClr val="dk1"/>
                </a:solidFill>
              </a:rPr>
              <a:t>5</a:t>
            </a:r>
            <a:endParaRPr sz="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2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Metrik Typen </a:t>
            </a:r>
            <a:r>
              <a:rPr lang="de-DE" sz="1000"/>
              <a:t>in Prometheus</a:t>
            </a:r>
            <a:endParaRPr sz="1000"/>
          </a:p>
        </p:txBody>
      </p:sp>
      <p:sp>
        <p:nvSpPr>
          <p:cNvPr id="314" name="Google Shape;314;p32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315" name="Google Shape;315;p32"/>
          <p:cNvSpPr txBox="1"/>
          <p:nvPr>
            <p:ph idx="1" type="body"/>
          </p:nvPr>
        </p:nvSpPr>
        <p:spPr>
          <a:xfrm>
            <a:off x="323850" y="897565"/>
            <a:ext cx="8496300" cy="381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Histogramm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Ein Metrik-Aggregat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Verteilung der Werte auf verschiedene Buckets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Gesamtanzahl sowie die Summe der Messwerte wird ebenfalls bestimmt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Summary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Bestimmung der </a:t>
            </a:r>
            <a:r>
              <a:rPr lang="de-DE"/>
              <a:t>Perzentils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3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Zusammenfassung der Metrik-Typen</a:t>
            </a:r>
            <a:endParaRPr/>
          </a:p>
        </p:txBody>
      </p:sp>
      <p:sp>
        <p:nvSpPr>
          <p:cNvPr id="321" name="Google Shape;321;p33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322" name="Google Shape;322;p33"/>
          <p:cNvSpPr txBox="1"/>
          <p:nvPr>
            <p:ph idx="1" type="body"/>
          </p:nvPr>
        </p:nvSpPr>
        <p:spPr>
          <a:xfrm>
            <a:off x="323850" y="897565"/>
            <a:ext cx="8496300" cy="381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Counter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"Wie oft"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nur steigend, Reset-sicher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Gauge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"Aktueller Wert"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Histogram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"Verteilung der Messwerte in einzelne Bereiche / Buckets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Summary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"Verteilung der Messwerte in die "Percentiles"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Inkludiert zusätzlich die Summe (Counter) die Anzahl der Meßwerte (Counter)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Hinweis: Das funktioniert nicht, falls z.B . Knoten eines Clusters verwendet werden 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4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Bemerkung zum Scraping</a:t>
            </a:r>
            <a:endParaRPr/>
          </a:p>
        </p:txBody>
      </p:sp>
      <p:sp>
        <p:nvSpPr>
          <p:cNvPr id="328" name="Google Shape;328;p34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329" name="Google Shape;329;p34"/>
          <p:cNvSpPr txBox="1"/>
          <p:nvPr>
            <p:ph idx="1" type="body"/>
          </p:nvPr>
        </p:nvSpPr>
        <p:spPr>
          <a:xfrm>
            <a:off x="323850" y="897565"/>
            <a:ext cx="8496300" cy="381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Das Scraping-Intervall macht Prometheus blind im Zeitfenster zwischen den Scrapes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Prometheus ist keine Echtzeit-Überwachung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Insbesondere bei Gauges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Auch das führt dazu, dass Counter bevorzugt werden sollten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5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335" name="Google Shape;335;p35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35"/>
          <p:cNvSpPr txBox="1"/>
          <p:nvPr>
            <p:ph idx="1" type="subTitle"/>
          </p:nvPr>
        </p:nvSpPr>
        <p:spPr>
          <a:xfrm>
            <a:off x="405525" y="2548100"/>
            <a:ext cx="8340300" cy="675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de-DE"/>
              <a:t>Erster Einstieg in die PromQL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6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Dokumentation</a:t>
            </a:r>
            <a:endParaRPr/>
          </a:p>
        </p:txBody>
      </p:sp>
      <p:sp>
        <p:nvSpPr>
          <p:cNvPr id="342" name="Google Shape;342;p36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343" name="Google Shape;343;p36"/>
          <p:cNvSpPr txBox="1"/>
          <p:nvPr>
            <p:ph idx="1" type="body"/>
          </p:nvPr>
        </p:nvSpPr>
        <p:spPr>
          <a:xfrm>
            <a:off x="323850" y="897565"/>
            <a:ext cx="8496300" cy="381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Ressourcen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Cheat Sheet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Prometheus Doc</a:t>
            </a:r>
            <a:endParaRPr/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de-DE"/>
              <a:t>https://prometheus.io/docs/prometheus/latest/querying/basics/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KI-Unterstützung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gut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Halluzinationen sind natürlich möglich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7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Begriffe</a:t>
            </a:r>
            <a:endParaRPr/>
          </a:p>
        </p:txBody>
      </p:sp>
      <p:sp>
        <p:nvSpPr>
          <p:cNvPr id="349" name="Google Shape;349;p37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350" name="Google Shape;350;p37"/>
          <p:cNvSpPr txBox="1"/>
          <p:nvPr>
            <p:ph idx="1" type="body"/>
          </p:nvPr>
        </p:nvSpPr>
        <p:spPr>
          <a:xfrm>
            <a:off x="323850" y="897565"/>
            <a:ext cx="8496300" cy="381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Einzelergebnis als Skalar (Zahl) oder String (Zeichenkette, als Metrik sehr selten)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Instant Vector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Ergebnis von Metriken zu einem bestimmten Zeitpunkt</a:t>
            </a:r>
            <a:endParaRPr/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de-DE"/>
              <a:t>Jeweils der letzte Scrape-Zeitpunkt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Das Ergebnis einer Selektion einer Metrik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Range Vector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Reihe von Werten über einen bestimmten Zeitraum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Selektion + Angabe des Zeitfensters der Messdaten in eckigen Klammern</a:t>
            </a:r>
            <a:endParaRPr/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de-DE"/>
              <a:t>[5m]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8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PromQL</a:t>
            </a:r>
            <a:endParaRPr/>
          </a:p>
        </p:txBody>
      </p:sp>
      <p:sp>
        <p:nvSpPr>
          <p:cNvPr id="356" name="Google Shape;356;p38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357" name="Google Shape;357;p38"/>
          <p:cNvSpPr txBox="1"/>
          <p:nvPr>
            <p:ph idx="1" type="body"/>
          </p:nvPr>
        </p:nvSpPr>
        <p:spPr>
          <a:xfrm>
            <a:off x="323850" y="897565"/>
            <a:ext cx="8496300" cy="381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Selektionsausdrücke nur mit Labels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Name + Label der Metrik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Ergebnis ist ein Instant Vector mit Werten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Interpretation eines Instant-Vectors + dessen zeitlicher Verlauf kann in einem Graphen dargestellt werden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Gauge-Wert wird häufig so visualisiert</a:t>
            </a:r>
            <a:endParaRPr/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de-DE"/>
              <a:t>Welche Werte hatte z.B. die Speicherauslastung?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Ein Graph aus einem Counter hingegen ist eher schwierig zu interpretieren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Der konkrete Wert eines Counters ist eigentlich uninteressant, mich interessieren die Änderungen</a:t>
            </a:r>
            <a:endParaRPr/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de-DE"/>
              <a:t>Die Änderungen ist die Steigung des Counters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9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PromQL-Funktionen zum Arbeiten mit Countern</a:t>
            </a:r>
            <a:endParaRPr/>
          </a:p>
        </p:txBody>
      </p:sp>
      <p:sp>
        <p:nvSpPr>
          <p:cNvPr id="363" name="Google Shape;363;p39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364" name="Google Shape;364;p39"/>
          <p:cNvSpPr txBox="1"/>
          <p:nvPr>
            <p:ph idx="1" type="body"/>
          </p:nvPr>
        </p:nvSpPr>
        <p:spPr>
          <a:xfrm>
            <a:off x="323850" y="897565"/>
            <a:ext cx="8496300" cy="381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Wie hat sich eine Counter-Variable im Schnitt verändert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Im mathematischen Sinn also die Steigung eines Counters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Funktionen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rate</a:t>
            </a:r>
            <a:endParaRPr/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de-DE"/>
              <a:t>Nimm den ersten und letzten Wert eines Range Vectors und teile diesen durch den Zeitraum</a:t>
            </a:r>
            <a:endParaRPr/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de-DE"/>
              <a:t>Normiere anschließend auf "pro Sekunde"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irate</a:t>
            </a:r>
            <a:endParaRPr/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de-DE"/>
              <a:t>Nimm den letzten und vorletzten Wert eines Range Vectors</a:t>
            </a:r>
            <a:endParaRPr/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de-DE"/>
              <a:t>Sonst wie rate</a:t>
            </a:r>
            <a:endParaRPr sz="12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0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Selektion</a:t>
            </a:r>
            <a:endParaRPr/>
          </a:p>
        </p:txBody>
      </p:sp>
      <p:sp>
        <p:nvSpPr>
          <p:cNvPr id="370" name="Google Shape;370;p40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371" name="Google Shape;371;p40"/>
          <p:cNvSpPr txBox="1"/>
          <p:nvPr>
            <p:ph idx="1" type="body"/>
          </p:nvPr>
        </p:nvSpPr>
        <p:spPr>
          <a:xfrm>
            <a:off x="323850" y="897565"/>
            <a:ext cx="8496300" cy="381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Basieren auf dem Namen einer Metrik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▪"/>
            </a:pPr>
            <a:r>
              <a:rPr lang="de-DE"/>
              <a:t>Best Practices</a:t>
            </a:r>
            <a:endParaRPr/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▪"/>
            </a:pPr>
            <a:r>
              <a:rPr lang="de-DE" u="sng">
                <a:solidFill>
                  <a:schemeClr val="hlink"/>
                </a:solidFill>
                <a:hlinkClick r:id="rId3"/>
              </a:rPr>
              <a:t>https://prometheus.io/docs/practices/naming/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Labels erweitern den Namen durch eine Liste von key=value-Paaren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{name=value, }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Hinweis</a:t>
            </a:r>
            <a:endParaRPr/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de-DE"/>
              <a:t>Eine PromQL kann auf nicht-existierende Labels selektieren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▪"/>
            </a:pPr>
            <a:r>
              <a:rPr lang="de-DE"/>
              <a:t>keine Schema-Prüfung mit Resultat, Ergebnis ist ein leeres Resultat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Eine Selektion nur mir Labels ist möglich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1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Selektionsoperatoren</a:t>
            </a:r>
            <a:endParaRPr/>
          </a:p>
        </p:txBody>
      </p:sp>
      <p:sp>
        <p:nvSpPr>
          <p:cNvPr id="377" name="Google Shape;377;p41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378" name="Google Shape;378;p41"/>
          <p:cNvSpPr txBox="1"/>
          <p:nvPr>
            <p:ph idx="1" type="body"/>
          </p:nvPr>
        </p:nvSpPr>
        <p:spPr>
          <a:xfrm>
            <a:off x="323850" y="897565"/>
            <a:ext cx="8496300" cy="381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▪"/>
            </a:pPr>
            <a:r>
              <a:rPr lang="de-DE"/>
              <a:t>Ergebnisse können mit Vergleichsoperatoren gefiltert werden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&gt;, &lt;, &gt;=, &lt;=, !=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Matchers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= Gleichheit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!= 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=~, !~ reguläre Ausdrücke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Logische Ausdrücke, | , &amp;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2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Pseudometriken ("Sawitzki"-Begriff)</a:t>
            </a:r>
            <a:endParaRPr/>
          </a:p>
        </p:txBody>
      </p:sp>
      <p:sp>
        <p:nvSpPr>
          <p:cNvPr id="384" name="Google Shape;384;p42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385" name="Google Shape;385;p42"/>
          <p:cNvSpPr txBox="1"/>
          <p:nvPr>
            <p:ph idx="1" type="body"/>
          </p:nvPr>
        </p:nvSpPr>
        <p:spPr>
          <a:xfrm>
            <a:off x="323850" y="897565"/>
            <a:ext cx="8496300" cy="381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up (Prometheus-interne Metrik)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0 </a:t>
            </a:r>
            <a:endParaRPr/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de-DE"/>
              <a:t>der letzte Scrape war nicht erfolgreich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1 </a:t>
            </a:r>
            <a:endParaRPr/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▪"/>
            </a:pPr>
            <a:r>
              <a:rPr lang="de-DE" sz="1600"/>
              <a:t>der letzte Scrape war erfolgreich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Konfigurationseinstellung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Metrik vom Typ gauge, die als Wert die Konfigurationseinstellung hat</a:t>
            </a:r>
            <a:endParaRPr/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de-DE"/>
              <a:t>die Konfiguration wird durch Labels abgebildet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info (dafür keinen Standard-Namen, bei uns node_exporter_build_info)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z.B. Versions-Tag, ebenfalls als Label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3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Aggregierung von Series</a:t>
            </a:r>
            <a:endParaRPr/>
          </a:p>
        </p:txBody>
      </p:sp>
      <p:sp>
        <p:nvSpPr>
          <p:cNvPr id="391" name="Google Shape;391;p43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392" name="Google Shape;392;p43"/>
          <p:cNvSpPr txBox="1"/>
          <p:nvPr>
            <p:ph idx="1" type="body"/>
          </p:nvPr>
        </p:nvSpPr>
        <p:spPr>
          <a:xfrm>
            <a:off x="323850" y="897565"/>
            <a:ext cx="8496300" cy="381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sum, min, max, avg, count, stddev, stdvar,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topk, </a:t>
            </a:r>
            <a:r>
              <a:rPr lang="de-DE"/>
              <a:t>bottom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4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Berechnungen</a:t>
            </a:r>
            <a:endParaRPr/>
          </a:p>
        </p:txBody>
      </p:sp>
      <p:sp>
        <p:nvSpPr>
          <p:cNvPr id="398" name="Google Shape;398;p44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399" name="Google Shape;399;p44"/>
          <p:cNvSpPr txBox="1"/>
          <p:nvPr>
            <p:ph idx="1" type="body"/>
          </p:nvPr>
        </p:nvSpPr>
        <p:spPr>
          <a:xfrm>
            <a:off x="323850" y="897565"/>
            <a:ext cx="8496300" cy="381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PromQL unterstützt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Mathematische Operationen zwischen Instant Vector und Skalaren ( = Zahlenwerten)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▪"/>
            </a:pPr>
            <a:r>
              <a:rPr lang="de-DE"/>
              <a:t>Mathematische Operationen zwischen Instant Vectors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5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ToDo-Ideen</a:t>
            </a:r>
            <a:endParaRPr/>
          </a:p>
        </p:txBody>
      </p:sp>
      <p:sp>
        <p:nvSpPr>
          <p:cNvPr id="405" name="Google Shape;405;p45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406" name="Google Shape;406;p45"/>
          <p:cNvSpPr txBox="1"/>
          <p:nvPr>
            <p:ph idx="1" type="body"/>
          </p:nvPr>
        </p:nvSpPr>
        <p:spPr>
          <a:xfrm>
            <a:off x="323850" y="897565"/>
            <a:ext cx="8496300" cy="381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Summiere die idle-Zeiten aller CPUs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Berechne den Quotienten user/idle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Berechne den Quotienten als Prozentzahl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…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6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412" name="Google Shape;412;p46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46"/>
          <p:cNvSpPr txBox="1"/>
          <p:nvPr>
            <p:ph idx="1" type="subTitle"/>
          </p:nvPr>
        </p:nvSpPr>
        <p:spPr>
          <a:xfrm>
            <a:off x="405525" y="2548100"/>
            <a:ext cx="8340300" cy="675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de-DE"/>
              <a:t>Grafana - Kurzeinführung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47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Trainingsumgebung</a:t>
            </a:r>
            <a:endParaRPr/>
          </a:p>
        </p:txBody>
      </p:sp>
      <p:sp>
        <p:nvSpPr>
          <p:cNvPr id="419" name="Google Shape;419;p47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420" name="Google Shape;420;p47"/>
          <p:cNvSpPr txBox="1"/>
          <p:nvPr>
            <p:ph idx="1" type="body"/>
          </p:nvPr>
        </p:nvSpPr>
        <p:spPr>
          <a:xfrm>
            <a:off x="323850" y="897565"/>
            <a:ext cx="8496300" cy="381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Zugriff 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 u="sng">
                <a:solidFill>
                  <a:schemeClr val="hlink"/>
                </a:solidFill>
                <a:hlinkClick r:id="rId3"/>
              </a:rPr>
              <a:t>javacream.eu:9092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Credentials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admin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admin123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48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Architektur</a:t>
            </a:r>
            <a:endParaRPr/>
          </a:p>
        </p:txBody>
      </p:sp>
      <p:sp>
        <p:nvSpPr>
          <p:cNvPr id="426" name="Google Shape;426;p48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427" name="Google Shape;427;p48"/>
          <p:cNvSpPr/>
          <p:nvPr/>
        </p:nvSpPr>
        <p:spPr>
          <a:xfrm>
            <a:off x="216075" y="947850"/>
            <a:ext cx="2397600" cy="2620800"/>
          </a:xfrm>
          <a:prstGeom prst="rect">
            <a:avLst/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Prometheus</a:t>
            </a:r>
            <a:endParaRPr/>
          </a:p>
        </p:txBody>
      </p:sp>
      <p:sp>
        <p:nvSpPr>
          <p:cNvPr id="428" name="Google Shape;428;p48"/>
          <p:cNvSpPr/>
          <p:nvPr/>
        </p:nvSpPr>
        <p:spPr>
          <a:xfrm>
            <a:off x="5094725" y="919975"/>
            <a:ext cx="3679800" cy="14010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Grafana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+"/>
            </a:pPr>
            <a:r>
              <a:rPr lang="de-DE"/>
              <a:t>Instant Vectors als Ergebnis einer PromQL-Anweisung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+"/>
            </a:pPr>
            <a:r>
              <a:rPr lang="de-DE"/>
              <a:t>Erzeugen der Grafiken mit Historie</a:t>
            </a:r>
            <a:endParaRPr/>
          </a:p>
        </p:txBody>
      </p:sp>
      <p:sp>
        <p:nvSpPr>
          <p:cNvPr id="429" name="Google Shape;429;p48"/>
          <p:cNvSpPr/>
          <p:nvPr/>
        </p:nvSpPr>
        <p:spPr>
          <a:xfrm>
            <a:off x="2655375" y="1186675"/>
            <a:ext cx="2397600" cy="8223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DataSource</a:t>
            </a:r>
            <a:endParaRPr/>
          </a:p>
        </p:txBody>
      </p:sp>
      <p:sp>
        <p:nvSpPr>
          <p:cNvPr id="430" name="Google Shape;430;p48"/>
          <p:cNvSpPr/>
          <p:nvPr/>
        </p:nvSpPr>
        <p:spPr>
          <a:xfrm>
            <a:off x="5011075" y="3324450"/>
            <a:ext cx="3714900" cy="13521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Browser</a:t>
            </a:r>
            <a:endParaRPr/>
          </a:p>
        </p:txBody>
      </p:sp>
      <p:sp>
        <p:nvSpPr>
          <p:cNvPr id="431" name="Google Shape;431;p48"/>
          <p:cNvSpPr/>
          <p:nvPr/>
        </p:nvSpPr>
        <p:spPr>
          <a:xfrm>
            <a:off x="2606500" y="3373250"/>
            <a:ext cx="2397600" cy="1602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48"/>
          <p:cNvSpPr/>
          <p:nvPr/>
        </p:nvSpPr>
        <p:spPr>
          <a:xfrm>
            <a:off x="6941625" y="2320975"/>
            <a:ext cx="271800" cy="9966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49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Architektur</a:t>
            </a:r>
            <a:endParaRPr/>
          </a:p>
        </p:txBody>
      </p:sp>
      <p:sp>
        <p:nvSpPr>
          <p:cNvPr id="438" name="Google Shape;438;p49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439" name="Google Shape;439;p49"/>
          <p:cNvSpPr/>
          <p:nvPr/>
        </p:nvSpPr>
        <p:spPr>
          <a:xfrm>
            <a:off x="216075" y="947850"/>
            <a:ext cx="2397600" cy="2620800"/>
          </a:xfrm>
          <a:prstGeom prst="rect">
            <a:avLst/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Relationale Datenbank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Log-Systeme, z.B. Loki</a:t>
            </a:r>
            <a:endParaRPr/>
          </a:p>
        </p:txBody>
      </p:sp>
      <p:sp>
        <p:nvSpPr>
          <p:cNvPr id="440" name="Google Shape;440;p49"/>
          <p:cNvSpPr/>
          <p:nvPr/>
        </p:nvSpPr>
        <p:spPr>
          <a:xfrm>
            <a:off x="5094725" y="919975"/>
            <a:ext cx="3679800" cy="14010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Grafana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+"/>
            </a:pPr>
            <a:r>
              <a:rPr lang="de-DE"/>
              <a:t>Ergebnismenge bestimmt durch SQL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+"/>
            </a:pPr>
            <a:r>
              <a:rPr lang="de-DE">
                <a:solidFill>
                  <a:schemeClr val="dk1"/>
                </a:solidFill>
              </a:rPr>
              <a:t>Erzeugen der Grafiken mit Historie</a:t>
            </a:r>
            <a:endParaRPr/>
          </a:p>
        </p:txBody>
      </p:sp>
      <p:sp>
        <p:nvSpPr>
          <p:cNvPr id="441" name="Google Shape;441;p49"/>
          <p:cNvSpPr/>
          <p:nvPr/>
        </p:nvSpPr>
        <p:spPr>
          <a:xfrm>
            <a:off x="2655375" y="1186675"/>
            <a:ext cx="2397600" cy="8223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DataSource</a:t>
            </a:r>
            <a:endParaRPr/>
          </a:p>
        </p:txBody>
      </p:sp>
      <p:sp>
        <p:nvSpPr>
          <p:cNvPr id="442" name="Google Shape;442;p49"/>
          <p:cNvSpPr/>
          <p:nvPr/>
        </p:nvSpPr>
        <p:spPr>
          <a:xfrm>
            <a:off x="5011075" y="3324450"/>
            <a:ext cx="3714900" cy="13521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Browser</a:t>
            </a:r>
            <a:endParaRPr/>
          </a:p>
        </p:txBody>
      </p:sp>
      <p:sp>
        <p:nvSpPr>
          <p:cNvPr id="443" name="Google Shape;443;p49"/>
          <p:cNvSpPr/>
          <p:nvPr/>
        </p:nvSpPr>
        <p:spPr>
          <a:xfrm>
            <a:off x="2606500" y="3373250"/>
            <a:ext cx="2397600" cy="1602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49"/>
          <p:cNvSpPr/>
          <p:nvPr/>
        </p:nvSpPr>
        <p:spPr>
          <a:xfrm>
            <a:off x="6941625" y="2320975"/>
            <a:ext cx="271800" cy="9966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50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Grafana: Grundbegriffe</a:t>
            </a:r>
            <a:endParaRPr/>
          </a:p>
        </p:txBody>
      </p:sp>
      <p:sp>
        <p:nvSpPr>
          <p:cNvPr id="450" name="Google Shape;450;p50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451" name="Google Shape;451;p50"/>
          <p:cNvSpPr txBox="1"/>
          <p:nvPr>
            <p:ph idx="1" type="body"/>
          </p:nvPr>
        </p:nvSpPr>
        <p:spPr>
          <a:xfrm>
            <a:off x="323850" y="897565"/>
            <a:ext cx="8496300" cy="381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Connections / Data Source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die zu visualisierende Datenquelle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Prometheus ist eine unterstützte Datenquelle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Panel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Visualisierung eines Instant Vectors gebildet auf Basis einer PromQL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“Unikat”-Panels, das sind die normalen Panels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Library Panels sind vergleichbar ,mit einer Klasse / einem Template</a:t>
            </a:r>
            <a:endParaRPr/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de-DE"/>
              <a:t>Änderungen innerhalb eines Library Panels werden auf alle konkreten Panels übertragen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Dashboard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Aggregat von Panels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Gruppiert in einzelne Zeilen / Rows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51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Grafana - Ein paar Details</a:t>
            </a:r>
            <a:endParaRPr/>
          </a:p>
        </p:txBody>
      </p:sp>
      <p:sp>
        <p:nvSpPr>
          <p:cNvPr id="457" name="Google Shape;457;p51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458" name="Google Shape;458;p51"/>
          <p:cNvSpPr txBox="1"/>
          <p:nvPr>
            <p:ph idx="1" type="body"/>
          </p:nvPr>
        </p:nvSpPr>
        <p:spPr>
          <a:xfrm>
            <a:off x="323850" y="897565"/>
            <a:ext cx="8496300" cy="381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Dashboards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Snapshots</a:t>
            </a:r>
            <a:endParaRPr/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de-DE"/>
              <a:t>“Einfrieren” eines Dashboards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▪"/>
            </a:pPr>
            <a:r>
              <a:rPr lang="de-DE"/>
              <a:t>Zugriff erfolgt über URL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▪"/>
            </a:pPr>
            <a:r>
              <a:rPr lang="de-DE"/>
              <a:t>Download als Image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Playlist</a:t>
            </a:r>
            <a:endParaRPr/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de-DE"/>
              <a:t>Abspielen verschiedener Dashboards innerhalb der Grafana Applikation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Import</a:t>
            </a:r>
            <a:endParaRPr/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de-DE"/>
              <a:t>-&gt; nächste Seite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52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"Dashboard as Code"</a:t>
            </a:r>
            <a:endParaRPr/>
          </a:p>
        </p:txBody>
      </p:sp>
      <p:sp>
        <p:nvSpPr>
          <p:cNvPr id="464" name="Google Shape;464;p52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465" name="Google Shape;465;p52"/>
          <p:cNvSpPr txBox="1"/>
          <p:nvPr>
            <p:ph idx="1" type="body"/>
          </p:nvPr>
        </p:nvSpPr>
        <p:spPr>
          <a:xfrm>
            <a:off x="323850" y="897565"/>
            <a:ext cx="8496300" cy="381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9250" lvl="0" marL="457200" rtl="0" algn="l">
              <a:spcBef>
                <a:spcPts val="600"/>
              </a:spcBef>
              <a:spcAft>
                <a:spcPts val="0"/>
              </a:spcAft>
              <a:buSzPts val="1900"/>
              <a:buChar char="▪"/>
            </a:pPr>
            <a:r>
              <a:rPr lang="de-DE" sz="1900"/>
              <a:t>Ein Dashboard wird immer repräsentiert durch eine Datei = Quellcode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▪"/>
            </a:pPr>
            <a:r>
              <a:rPr lang="de-DE" sz="1900"/>
              <a:t>Bezug zu Versionsverwaltung</a:t>
            </a:r>
            <a:endParaRPr sz="19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de-DE" sz="1700"/>
              <a:t>Grafana bietet eine integrierte Versionsverwaltung für Dashboards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de-DE" sz="1700"/>
              <a:t>Bei jeder Änderung wird eine Möglichkeit angeboten, die Änderung zu beschreiben</a:t>
            </a:r>
            <a:endParaRPr sz="1700"/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SzPts val="1500"/>
              <a:buChar char="▪"/>
            </a:pPr>
            <a:r>
              <a:rPr lang="de-DE" sz="1500"/>
              <a:t>Historie der Änderungen ist damit verfügbar</a:t>
            </a:r>
            <a:endParaRPr sz="15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de-DE" sz="1700"/>
              <a:t>Hinweis</a:t>
            </a:r>
            <a:endParaRPr sz="1700"/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SzPts val="1500"/>
              <a:buChar char="▪"/>
            </a:pPr>
            <a:r>
              <a:rPr lang="de-DE" sz="1500"/>
              <a:t>Selbstverständlich</a:t>
            </a:r>
            <a:r>
              <a:rPr lang="de-DE" sz="1500"/>
              <a:t> können Dashboards auch in einem Git-Repository verwaltet werden</a:t>
            </a:r>
            <a:endParaRPr sz="15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▪"/>
            </a:pPr>
            <a:r>
              <a:rPr lang="de-DE" sz="1900"/>
              <a:t>Die Code-Repräsentierung eines Dashboards kann jederzeit angezeigt werden</a:t>
            </a:r>
            <a:endParaRPr sz="19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de-DE" sz="1700"/>
              <a:t>Sehr technisch</a:t>
            </a:r>
            <a:endParaRPr sz="17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▪"/>
            </a:pPr>
            <a:r>
              <a:rPr lang="de-DE" sz="1900"/>
              <a:t>Der Code des Dashboards kann exportiert werden</a:t>
            </a:r>
            <a:endParaRPr sz="19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de-DE" sz="1700"/>
              <a:t>Format: JSON</a:t>
            </a:r>
            <a:endParaRPr sz="17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53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Dashboard Registry</a:t>
            </a:r>
            <a:endParaRPr/>
          </a:p>
        </p:txBody>
      </p:sp>
      <p:sp>
        <p:nvSpPr>
          <p:cNvPr id="471" name="Google Shape;471;p53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472" name="Google Shape;472;p53"/>
          <p:cNvSpPr txBox="1"/>
          <p:nvPr>
            <p:ph idx="1" type="body"/>
          </p:nvPr>
        </p:nvSpPr>
        <p:spPr>
          <a:xfrm>
            <a:off x="323850" y="897565"/>
            <a:ext cx="8496300" cy="381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Eine Sammlung von Dashboards as Code, die anderen zur Verfügung gestellt werden können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Ablage der exportieren Dashboards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Dashboards können aus der Registry importiert werden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https://grafana.com/grafana/dashboards/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54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Dashboards </a:t>
            </a:r>
            <a:endParaRPr/>
          </a:p>
        </p:txBody>
      </p:sp>
      <p:sp>
        <p:nvSpPr>
          <p:cNvPr id="478" name="Google Shape;478;p54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479" name="Google Shape;479;p54"/>
          <p:cNvSpPr txBox="1"/>
          <p:nvPr>
            <p:ph idx="1" type="body"/>
          </p:nvPr>
        </p:nvSpPr>
        <p:spPr>
          <a:xfrm>
            <a:off x="323850" y="897565"/>
            <a:ext cx="8496300" cy="381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Als eine Datei, genauer: Eine Quellcode-Datei, noch genauer: Eine Quellcode-Datei im JSON-Format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“Zusammenklicken” eines Dashboards ist im Endeffekt Programmierung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Dashboards werden selbstverständlich in einem SCM abgelegt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z.B. im Git-Servers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Beim Aufsetzen eines Grafana-Servers wird das Dashboard-Verzeichnis als Repository gecloned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Community-Dashboards können genutzt werden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Öffentliches Dashboard Repository</a:t>
            </a:r>
            <a:endParaRPr/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de-DE"/>
              <a:t>https://grafana.com/grafana/dashboards/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55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"Freies" ToDo bis 11:15</a:t>
            </a:r>
            <a:endParaRPr/>
          </a:p>
        </p:txBody>
      </p:sp>
      <p:sp>
        <p:nvSpPr>
          <p:cNvPr id="485" name="Google Shape;485;p55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486" name="Google Shape;486;p55"/>
          <p:cNvSpPr txBox="1"/>
          <p:nvPr>
            <p:ph idx="1" type="body"/>
          </p:nvPr>
        </p:nvSpPr>
        <p:spPr>
          <a:xfrm>
            <a:off x="323850" y="897565"/>
            <a:ext cx="8496300" cy="381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"Spickzettel" des Node Exporter Full-Dashboards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Befüllen Sie jeweils ihr leeres Panel mit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Einem Panel-Gauge mit "CPU Busy"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Time Series "CPU Busy"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Time Series mit CPU modus="idle"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Übersicht der Galerie der vorhandenen Panel-Typen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Settings </a:t>
            </a:r>
            <a:endParaRPr/>
          </a:p>
        </p:txBody>
      </p:sp>
      <p:sp>
        <p:nvSpPr>
          <p:cNvPr id="487" name="Google Shape;487;p55"/>
          <p:cNvSpPr/>
          <p:nvPr/>
        </p:nvSpPr>
        <p:spPr>
          <a:xfrm>
            <a:off x="6099025" y="1295175"/>
            <a:ext cx="2779500" cy="1209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Hinweis: Statt der Variablen werden im leeren Panel die Werte für instance und job und rate_interval hart eingegeben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56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Variablen</a:t>
            </a:r>
            <a:endParaRPr/>
          </a:p>
        </p:txBody>
      </p:sp>
      <p:sp>
        <p:nvSpPr>
          <p:cNvPr id="493" name="Google Shape;493;p56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494" name="Google Shape;494;p56"/>
          <p:cNvSpPr txBox="1"/>
          <p:nvPr>
            <p:ph idx="1" type="body"/>
          </p:nvPr>
        </p:nvSpPr>
        <p:spPr>
          <a:xfrm>
            <a:off x="323850" y="897565"/>
            <a:ext cx="8496300" cy="381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Mit Variablen werden Dashboards wiederverwendbar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Best Practice</a:t>
            </a:r>
            <a:endParaRPr/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de-DE"/>
              <a:t>Queries von Panels sollen keine fixen Werte enthalten, sondern sich immer auf Variable beziehen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Definition von Variablen in den Settings des Dashboards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Typen</a:t>
            </a:r>
            <a:endParaRPr/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de-DE"/>
              <a:t>Freitext</a:t>
            </a:r>
            <a:endParaRPr/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de-DE"/>
              <a:t>Query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▪"/>
            </a:pPr>
            <a:r>
              <a:rPr lang="de-DE"/>
              <a:t>PromQL-Ausdruck, der eine Liste von Werten liefert</a:t>
            </a:r>
            <a:endParaRPr/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de-DE"/>
              <a:t>Interval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▪"/>
            </a:pPr>
            <a:r>
              <a:rPr lang="de-DE"/>
              <a:t>Zeitangabe, z.B. für rate</a:t>
            </a:r>
            <a:endParaRPr/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de-DE"/>
              <a:t>Custom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▪"/>
            </a:pPr>
            <a:r>
              <a:rPr lang="de-DE"/>
              <a:t>Auflistung von Werten, die dem Benutzer zur Auswahl angeboten werden</a:t>
            </a:r>
            <a:endParaRPr/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de-DE"/>
              <a:t>…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57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Liste der Grafana Variablen</a:t>
            </a:r>
            <a:endParaRPr/>
          </a:p>
        </p:txBody>
      </p:sp>
      <p:sp>
        <p:nvSpPr>
          <p:cNvPr id="500" name="Google Shape;500;p57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501" name="Google Shape;501;p57"/>
          <p:cNvSpPr txBox="1"/>
          <p:nvPr>
            <p:ph idx="1" type="body"/>
          </p:nvPr>
        </p:nvSpPr>
        <p:spPr>
          <a:xfrm>
            <a:off x="323850" y="897565"/>
            <a:ext cx="8496300" cy="381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spcBef>
                <a:spcPts val="600"/>
              </a:spcBef>
              <a:spcAft>
                <a:spcPts val="0"/>
              </a:spcAft>
              <a:buSzPts val="1400"/>
              <a:buChar char="▪"/>
            </a:pPr>
            <a:r>
              <a:rPr lang="de-DE" sz="1400"/>
              <a:t>Allgemein</a:t>
            </a:r>
            <a:endParaRPr sz="14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▪"/>
            </a:pPr>
            <a:r>
              <a:rPr lang="de-DE" sz="1200"/>
              <a:t>$__from	Startzeit des aktuellen Zeitbereichs (Unix ms)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▪"/>
            </a:pPr>
            <a:r>
              <a:rPr lang="de-DE" sz="1200"/>
              <a:t>$__to	Endzeit des aktuellen Zeitbereichs (Unix ms)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▪"/>
            </a:pPr>
            <a:r>
              <a:rPr lang="de-DE" sz="1200"/>
              <a:t>$__range	Zeitbereich (z. B. 1h)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▪"/>
            </a:pPr>
            <a:r>
              <a:rPr lang="de-DE" sz="1200"/>
              <a:t>$__range_ms	Zeitbereich in Millisekunden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▪"/>
            </a:pPr>
            <a:r>
              <a:rPr lang="de-DE" sz="1200"/>
              <a:t>$__range_s	Zeitbereich in Sekunden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▪"/>
            </a:pPr>
            <a:r>
              <a:rPr lang="de-DE" sz="1200"/>
              <a:t>$__interval	Automatisch berechnetes Intervall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▪"/>
            </a:pPr>
            <a:r>
              <a:rPr lang="de-DE" sz="1200"/>
              <a:t>$__interval_ms	Intervall in Millisekunden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▪"/>
            </a:pPr>
            <a:r>
              <a:rPr lang="de-DE" sz="1200"/>
              <a:t>$__rate_interval	Empfohlenes Intervall für rate() (Prometheus)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▪"/>
            </a:pPr>
            <a:r>
              <a:rPr lang="de-DE" sz="1200"/>
              <a:t>$__timezone	Zeitzone des Dashboards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▪"/>
            </a:pPr>
            <a:r>
              <a:rPr lang="de-DE" sz="1200"/>
              <a:t>$__dashboard	Name des Dashboards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▪"/>
            </a:pPr>
            <a:r>
              <a:rPr lang="de-DE" sz="1200"/>
              <a:t>$__org	Organisations-ID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▪"/>
            </a:pPr>
            <a:r>
              <a:rPr lang="de-DE" sz="1200"/>
              <a:t>$__user</a:t>
            </a:r>
            <a:endParaRPr sz="12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▪"/>
            </a:pPr>
            <a:r>
              <a:rPr lang="de-DE" sz="1400"/>
              <a:t>Bezug zu Prometheus</a:t>
            </a:r>
            <a:endParaRPr sz="14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▪"/>
            </a:pPr>
            <a:r>
              <a:rPr lang="de-DE" sz="1200"/>
              <a:t>$job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▪"/>
            </a:pPr>
            <a:r>
              <a:rPr lang="de-DE" sz="1200"/>
              <a:t>$instance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▪"/>
            </a:pPr>
            <a:r>
              <a:rPr lang="de-DE" sz="1200"/>
              <a:t>$device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▪"/>
            </a:pPr>
            <a:r>
              <a:rPr lang="de-DE" sz="1200"/>
              <a:t>$mountpoint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▪"/>
            </a:pPr>
            <a:r>
              <a:rPr lang="de-DE" sz="1200"/>
              <a:t>$cpu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▪"/>
            </a:pPr>
            <a:r>
              <a:rPr lang="de-DE" sz="1200"/>
              <a:t>$interval</a:t>
            </a:r>
            <a:endParaRPr sz="120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58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ToDo</a:t>
            </a:r>
            <a:endParaRPr/>
          </a:p>
        </p:txBody>
      </p:sp>
      <p:sp>
        <p:nvSpPr>
          <p:cNvPr id="507" name="Google Shape;507;p58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508" name="Google Shape;508;p58"/>
          <p:cNvSpPr txBox="1"/>
          <p:nvPr>
            <p:ph idx="1" type="body"/>
          </p:nvPr>
        </p:nvSpPr>
        <p:spPr>
          <a:xfrm>
            <a:off x="323850" y="897565"/>
            <a:ext cx="8496300" cy="381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Einführen von Variablen im "leeren" Dashboard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node als Query-Variable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job als Custom-Variable mit den Auswahlmöglichkeiten "Linux Node" und "Non Existent"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Interval-Variable zur Bestimmung des Rate-Intervalls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59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514" name="Google Shape;514;p59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59"/>
          <p:cNvSpPr txBox="1"/>
          <p:nvPr>
            <p:ph idx="1" type="subTitle"/>
          </p:nvPr>
        </p:nvSpPr>
        <p:spPr>
          <a:xfrm>
            <a:off x="405525" y="2548100"/>
            <a:ext cx="8340300" cy="675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de-DE"/>
              <a:t>Aufsetzen eines Prometheus/Grafana Stacks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60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ToDo</a:t>
            </a:r>
            <a:endParaRPr/>
          </a:p>
        </p:txBody>
      </p:sp>
      <p:sp>
        <p:nvSpPr>
          <p:cNvPr id="521" name="Google Shape;521;p60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522" name="Google Shape;522;p60"/>
          <p:cNvSpPr txBox="1"/>
          <p:nvPr>
            <p:ph idx="1" type="body"/>
          </p:nvPr>
        </p:nvSpPr>
        <p:spPr>
          <a:xfrm>
            <a:off x="323850" y="897565"/>
            <a:ext cx="8496300" cy="381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Nun die folgende Befehlssequenz eingeben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cd prometheus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cd server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docker compose up -d</a:t>
            </a:r>
            <a:endParaRPr/>
          </a:p>
        </p:txBody>
      </p:sp>
      <p:sp>
        <p:nvSpPr>
          <p:cNvPr id="523" name="Google Shape;523;p60"/>
          <p:cNvSpPr/>
          <p:nvPr/>
        </p:nvSpPr>
        <p:spPr>
          <a:xfrm>
            <a:off x="4559050" y="1749475"/>
            <a:ext cx="3842100" cy="27102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CHECK im Browser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 u="sng">
                <a:solidFill>
                  <a:schemeClr val="hlink"/>
                </a:solidFill>
                <a:hlinkClick r:id="rId3"/>
              </a:rPr>
              <a:t>http://localhost:9090</a:t>
            </a:r>
            <a:r>
              <a:rPr lang="de-DE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de-DE"/>
              <a:t>zeigt das Prometheus-Frontend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 u="sng">
                <a:solidFill>
                  <a:schemeClr val="hlink"/>
                </a:solidFill>
                <a:hlinkClick r:id="rId4"/>
              </a:rPr>
              <a:t>http://localhost:9092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de-DE"/>
              <a:t>zeigt das Grafana-Frontend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de-DE"/>
              <a:t>mit eingerichteter Data Source Prometheus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Im Prometheus-Frontend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de-DE"/>
              <a:t>up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de-DE"/>
              <a:t>pushgateway, prometheus und Linux Node sind auf 1 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61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Prometheus Exporter</a:t>
            </a:r>
            <a:endParaRPr/>
          </a:p>
        </p:txBody>
      </p:sp>
      <p:sp>
        <p:nvSpPr>
          <p:cNvPr id="529" name="Google Shape;529;p61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530" name="Google Shape;530;p61"/>
          <p:cNvSpPr txBox="1"/>
          <p:nvPr>
            <p:ph idx="1" type="body"/>
          </p:nvPr>
        </p:nvSpPr>
        <p:spPr>
          <a:xfrm>
            <a:off x="323850" y="897565"/>
            <a:ext cx="8496300" cy="381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Ausgangssituation ist, dass die meisten Anwendung Metriken "irgendwie" erfassen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Dieses "irgendwie" wird durch einen Prometheus </a:t>
            </a:r>
            <a:r>
              <a:rPr lang="de-DE">
                <a:highlight>
                  <a:srgbClr val="FF00FF"/>
                </a:highlight>
              </a:rPr>
              <a:t>Exporter </a:t>
            </a:r>
            <a:r>
              <a:rPr lang="de-DE"/>
              <a:t>kompatibel zu Prometheus gemacht</a:t>
            </a:r>
            <a:endParaRPr/>
          </a:p>
        </p:txBody>
      </p:sp>
      <p:sp>
        <p:nvSpPr>
          <p:cNvPr id="531" name="Google Shape;531;p61"/>
          <p:cNvSpPr/>
          <p:nvPr/>
        </p:nvSpPr>
        <p:spPr>
          <a:xfrm>
            <a:off x="1910300" y="1772550"/>
            <a:ext cx="1332000" cy="5775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Application</a:t>
            </a:r>
            <a:endParaRPr/>
          </a:p>
        </p:txBody>
      </p:sp>
      <p:sp>
        <p:nvSpPr>
          <p:cNvPr id="532" name="Google Shape;532;p61"/>
          <p:cNvSpPr/>
          <p:nvPr/>
        </p:nvSpPr>
        <p:spPr>
          <a:xfrm>
            <a:off x="3134575" y="2111350"/>
            <a:ext cx="931800" cy="207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Metriken</a:t>
            </a:r>
            <a:endParaRPr/>
          </a:p>
        </p:txBody>
      </p:sp>
      <p:sp>
        <p:nvSpPr>
          <p:cNvPr id="533" name="Google Shape;533;p61"/>
          <p:cNvSpPr/>
          <p:nvPr/>
        </p:nvSpPr>
        <p:spPr>
          <a:xfrm>
            <a:off x="5767925" y="1518475"/>
            <a:ext cx="2517900" cy="8700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Prometheus Server</a:t>
            </a:r>
            <a:endParaRPr/>
          </a:p>
        </p:txBody>
      </p:sp>
      <p:sp>
        <p:nvSpPr>
          <p:cNvPr id="534" name="Google Shape;534;p61"/>
          <p:cNvSpPr/>
          <p:nvPr/>
        </p:nvSpPr>
        <p:spPr>
          <a:xfrm>
            <a:off x="5275150" y="2049750"/>
            <a:ext cx="931800" cy="269500"/>
          </a:xfrm>
          <a:prstGeom prst="flowChartProcess">
            <a:avLst/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Scrapes</a:t>
            </a:r>
            <a:endParaRPr/>
          </a:p>
        </p:txBody>
      </p:sp>
      <p:sp>
        <p:nvSpPr>
          <p:cNvPr id="535" name="Google Shape;535;p61"/>
          <p:cNvSpPr/>
          <p:nvPr/>
        </p:nvSpPr>
        <p:spPr>
          <a:xfrm>
            <a:off x="4066375" y="2111350"/>
            <a:ext cx="1155000" cy="1077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61"/>
          <p:cNvSpPr/>
          <p:nvPr/>
        </p:nvSpPr>
        <p:spPr>
          <a:xfrm>
            <a:off x="4366550" y="1741775"/>
            <a:ext cx="608364" cy="923994"/>
          </a:xfrm>
          <a:prstGeom prst="lightningBolt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61"/>
          <p:cNvSpPr/>
          <p:nvPr/>
        </p:nvSpPr>
        <p:spPr>
          <a:xfrm>
            <a:off x="1910300" y="3829950"/>
            <a:ext cx="1332000" cy="5775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Application</a:t>
            </a:r>
            <a:endParaRPr/>
          </a:p>
        </p:txBody>
      </p:sp>
      <p:sp>
        <p:nvSpPr>
          <p:cNvPr id="538" name="Google Shape;538;p61"/>
          <p:cNvSpPr/>
          <p:nvPr/>
        </p:nvSpPr>
        <p:spPr>
          <a:xfrm>
            <a:off x="3134575" y="4168750"/>
            <a:ext cx="931800" cy="207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Metriken</a:t>
            </a:r>
            <a:endParaRPr/>
          </a:p>
        </p:txBody>
      </p:sp>
      <p:sp>
        <p:nvSpPr>
          <p:cNvPr id="539" name="Google Shape;539;p61"/>
          <p:cNvSpPr/>
          <p:nvPr/>
        </p:nvSpPr>
        <p:spPr>
          <a:xfrm>
            <a:off x="5767925" y="3575875"/>
            <a:ext cx="2517900" cy="8700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Prometheus Server</a:t>
            </a:r>
            <a:endParaRPr/>
          </a:p>
        </p:txBody>
      </p:sp>
      <p:sp>
        <p:nvSpPr>
          <p:cNvPr id="540" name="Google Shape;540;p61"/>
          <p:cNvSpPr/>
          <p:nvPr/>
        </p:nvSpPr>
        <p:spPr>
          <a:xfrm>
            <a:off x="5275150" y="4107150"/>
            <a:ext cx="931800" cy="269500"/>
          </a:xfrm>
          <a:prstGeom prst="flowChartProcess">
            <a:avLst/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Scrapes</a:t>
            </a:r>
            <a:endParaRPr/>
          </a:p>
        </p:txBody>
      </p:sp>
      <p:sp>
        <p:nvSpPr>
          <p:cNvPr id="541" name="Google Shape;541;p61"/>
          <p:cNvSpPr/>
          <p:nvPr/>
        </p:nvSpPr>
        <p:spPr>
          <a:xfrm>
            <a:off x="4716475" y="4168750"/>
            <a:ext cx="504900" cy="1077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61"/>
          <p:cNvSpPr/>
          <p:nvPr/>
        </p:nvSpPr>
        <p:spPr>
          <a:xfrm>
            <a:off x="4081675" y="3943925"/>
            <a:ext cx="608400" cy="501900"/>
          </a:xfrm>
          <a:prstGeom prst="rect">
            <a:avLst/>
          </a:prstGeom>
          <a:solidFill>
            <a:srgbClr val="FF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62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ToDo</a:t>
            </a:r>
            <a:endParaRPr/>
          </a:p>
        </p:txBody>
      </p:sp>
      <p:sp>
        <p:nvSpPr>
          <p:cNvPr id="548" name="Google Shape;548;p62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549" name="Google Shape;549;p62"/>
          <p:cNvSpPr txBox="1"/>
          <p:nvPr>
            <p:ph idx="1" type="body"/>
          </p:nvPr>
        </p:nvSpPr>
        <p:spPr>
          <a:xfrm>
            <a:off x="323850" y="897565"/>
            <a:ext cx="8496300" cy="381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Einbinden des </a:t>
            </a:r>
            <a:r>
              <a:rPr lang="de-DE" u="sng">
                <a:solidFill>
                  <a:schemeClr val="hlink"/>
                </a:solidFill>
                <a:hlinkClick r:id="rId3"/>
              </a:rPr>
              <a:t>javacream.eu:9113</a:t>
            </a:r>
            <a:r>
              <a:rPr lang="de-DE"/>
              <a:t>-Exporters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dieser stellt Web Server Metriken bereits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Zugriff den Web Server über </a:t>
            </a:r>
            <a:r>
              <a:rPr lang="de-DE" u="sng">
                <a:solidFill>
                  <a:schemeClr val="hlink"/>
                </a:solidFill>
                <a:hlinkClick r:id="rId4"/>
              </a:rPr>
              <a:t>javacream.eu:8080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Check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up zeigt einen neuen laufenden Prozess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nginx_http_requests_total ist als Metrik vorhanden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Erstellen (?) Sie ein repräsentatives Dashboard, das die Web Server Metriken darstellt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Hinweis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Falls Sie den Prometheus-Server durchstarten wollen, was bei jeder Änderung der prometheus.yml notwendig ist</a:t>
            </a:r>
            <a:endParaRPr/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de-DE"/>
              <a:t>docker compose down</a:t>
            </a:r>
            <a:endParaRPr/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de-DE"/>
              <a:t>docker compose up -d</a:t>
            </a:r>
            <a:endParaRPr/>
          </a:p>
        </p:txBody>
      </p:sp>
      <p:sp>
        <p:nvSpPr>
          <p:cNvPr id="550" name="Google Shape;550;p62"/>
          <p:cNvSpPr/>
          <p:nvPr/>
        </p:nvSpPr>
        <p:spPr>
          <a:xfrm>
            <a:off x="4220250" y="4267325"/>
            <a:ext cx="2602500" cy="3927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im Verzeichnis docker/prometheus/server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63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Anwendungsentwicklung und Prometheus</a:t>
            </a:r>
            <a:endParaRPr/>
          </a:p>
        </p:txBody>
      </p:sp>
      <p:sp>
        <p:nvSpPr>
          <p:cNvPr id="556" name="Google Shape;556;p63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557" name="Google Shape;557;p63"/>
          <p:cNvSpPr txBox="1"/>
          <p:nvPr>
            <p:ph idx="1" type="body"/>
          </p:nvPr>
        </p:nvSpPr>
        <p:spPr>
          <a:xfrm>
            <a:off x="323850" y="897565"/>
            <a:ext cx="8496300" cy="381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Java ist für sehr gut geeignet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Die Laufzeitumgebung ("Java Virtual </a:t>
            </a:r>
            <a:r>
              <a:rPr lang="de-DE"/>
              <a:t>Machine</a:t>
            </a:r>
            <a:r>
              <a:rPr lang="de-DE"/>
              <a:t>") sammelt mit JMX eine große Menge von Metrik-Informationen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Der JMX-Exporter öffnet diese Metriken für Prometheus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Noch besser ist Java mit Spring Boot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Rein deklarativ, Einträge in der pom.xml bzw. application.properties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Andere Sprachen zu finden unter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https://prometheus.io/docs/instrumenting/clientlibs/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64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563" name="Google Shape;563;p64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64"/>
          <p:cNvSpPr txBox="1"/>
          <p:nvPr>
            <p:ph idx="1" type="subTitle"/>
          </p:nvPr>
        </p:nvSpPr>
        <p:spPr>
          <a:xfrm>
            <a:off x="405525" y="2548100"/>
            <a:ext cx="8340300" cy="675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de-DE"/>
              <a:t>Weitere Tools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65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Pushgateway</a:t>
            </a:r>
            <a:endParaRPr/>
          </a:p>
        </p:txBody>
      </p:sp>
      <p:sp>
        <p:nvSpPr>
          <p:cNvPr id="570" name="Google Shape;570;p65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571" name="Google Shape;571;p65"/>
          <p:cNvSpPr txBox="1"/>
          <p:nvPr>
            <p:ph idx="1" type="body"/>
          </p:nvPr>
        </p:nvSpPr>
        <p:spPr>
          <a:xfrm>
            <a:off x="323850" y="897565"/>
            <a:ext cx="8496300" cy="381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Kurzlaufende Prozesse (z.B. Batches) sind für Prometheus unhandlich in der Überwachung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Kann tatsächlich beendet sein, bevor Prometheus scraped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die Zeitreihen haben Lücken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up = 0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…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Idee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Statt die kurzlaufenden Prozesse von Prometheus zu scrapen wird umgestellt auf einen Push-Mechanismus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Dazu wird das Pushgateway verwendet</a:t>
            </a:r>
            <a:endParaRPr/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de-DE"/>
              <a:t>ein separat laufender Prozess, der von Prometheus überwacht wird und für laufende Prozesse Metriken bereitstellt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66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Alertmanager-Produkte</a:t>
            </a:r>
            <a:endParaRPr/>
          </a:p>
        </p:txBody>
      </p:sp>
      <p:sp>
        <p:nvSpPr>
          <p:cNvPr id="577" name="Google Shape;577;p66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578" name="Google Shape;578;p66"/>
          <p:cNvSpPr txBox="1"/>
          <p:nvPr>
            <p:ph idx="1" type="body"/>
          </p:nvPr>
        </p:nvSpPr>
        <p:spPr>
          <a:xfrm>
            <a:off x="323850" y="897565"/>
            <a:ext cx="8496300" cy="381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Prometheus Alertmanager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Kibana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Splunk On-Call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Grafana Alertmanager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67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Alerts</a:t>
            </a:r>
            <a:endParaRPr/>
          </a:p>
        </p:txBody>
      </p:sp>
      <p:sp>
        <p:nvSpPr>
          <p:cNvPr id="584" name="Google Shape;584;p67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585" name="Google Shape;585;p67"/>
          <p:cNvSpPr txBox="1"/>
          <p:nvPr>
            <p:ph idx="1" type="body"/>
          </p:nvPr>
        </p:nvSpPr>
        <p:spPr>
          <a:xfrm>
            <a:off x="323850" y="897565"/>
            <a:ext cx="8496300" cy="381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▪"/>
            </a:pPr>
            <a:r>
              <a:rPr lang="de-DE" sz="1800"/>
              <a:t>Alerting = Digitalisierte und automatisierte Überwachung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 sz="1800"/>
              <a:t>Bestandteile</a:t>
            </a:r>
            <a:endParaRPr sz="18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de-DE" sz="1600"/>
              <a:t>Alert Rule</a:t>
            </a:r>
            <a:endParaRPr sz="1600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▪"/>
            </a:pPr>
            <a:r>
              <a:rPr lang="de-DE" sz="1400"/>
              <a:t>Regelwerk: Alarmsituation ist vorhanden</a:t>
            </a:r>
            <a:endParaRPr sz="14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de-DE" sz="1600"/>
              <a:t>Contact Point</a:t>
            </a:r>
            <a:endParaRPr sz="1600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▪"/>
            </a:pPr>
            <a:r>
              <a:rPr lang="de-DE" sz="1400"/>
              <a:t>Wem wird der Alert gemeldet?</a:t>
            </a:r>
            <a:endParaRPr sz="1400"/>
          </a:p>
          <a:p>
            <a:pPr indent="-304800" lvl="3" marL="1828800" rtl="0" algn="l">
              <a:spcBef>
                <a:spcPts val="0"/>
              </a:spcBef>
              <a:spcAft>
                <a:spcPts val="0"/>
              </a:spcAft>
              <a:buSzPts val="1200"/>
              <a:buChar char="▪"/>
            </a:pPr>
            <a:r>
              <a:rPr lang="de-DE" sz="1200"/>
              <a:t>Person oder Gruppe identifiziert über eMail, WhatsApp, …</a:t>
            </a:r>
            <a:endParaRPr sz="1200"/>
          </a:p>
          <a:p>
            <a:pPr indent="-304800" lvl="3" marL="1828800" rtl="0" algn="l">
              <a:spcBef>
                <a:spcPts val="0"/>
              </a:spcBef>
              <a:spcAft>
                <a:spcPts val="0"/>
              </a:spcAft>
              <a:buSzPts val="1200"/>
              <a:buChar char="▪"/>
            </a:pPr>
            <a:r>
              <a:rPr lang="de-DE" sz="1200"/>
              <a:t>Externes Alertsystem</a:t>
            </a:r>
            <a:endParaRPr sz="12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de-DE" sz="1600"/>
              <a:t>Notification Policy</a:t>
            </a:r>
            <a:endParaRPr sz="16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 sz="1800"/>
              <a:t>Details</a:t>
            </a:r>
            <a:endParaRPr sz="18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de-DE" sz="1600"/>
              <a:t>Alert Rule = Bedingung, die aber in einem bestimmten Zeitraum erfüllt sein muss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de-DE" sz="1600"/>
              <a:t>Silencing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de-DE" sz="1600"/>
              <a:t>Testmöglichkeit</a:t>
            </a:r>
            <a:r>
              <a:rPr lang="de-DE" sz="1600"/>
              <a:t> muss vorhanden sein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de-DE" sz="1600"/>
              <a:t>Zusammenfassung </a:t>
            </a:r>
            <a:r>
              <a:rPr lang="de-DE" sz="1600"/>
              <a:t>zusammengehöriger</a:t>
            </a:r>
            <a:r>
              <a:rPr lang="de-DE" sz="1600"/>
              <a:t> Alert-Kaskaden</a:t>
            </a:r>
            <a:endParaRPr sz="160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68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Visualisierung von Alerts</a:t>
            </a:r>
            <a:endParaRPr/>
          </a:p>
        </p:txBody>
      </p:sp>
      <p:sp>
        <p:nvSpPr>
          <p:cNvPr id="591" name="Google Shape;591;p68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592" name="Google Shape;592;p68"/>
          <p:cNvSpPr txBox="1"/>
          <p:nvPr>
            <p:ph idx="1" type="body"/>
          </p:nvPr>
        </p:nvSpPr>
        <p:spPr>
          <a:xfrm>
            <a:off x="323850" y="897565"/>
            <a:ext cx="8496300" cy="381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Prometheus-Alerts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PromQL-Anweisung ALERTS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Wie eine Metrik haben die ALERTS eine Zeitreihe / Historie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In Grafana gibt es das Panel "Alert List", das die aktuellen Alerts darstellt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Grafana unterstützt keine Historie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69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598" name="Google Shape;598;p69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highlight>
                  <a:srgbClr val="00FFFF"/>
                </a:highlight>
              </a:rPr>
              <a:t>Alerting</a:t>
            </a:r>
            <a:endParaRPr>
              <a:highlight>
                <a:srgbClr val="00FFFF"/>
              </a:highlight>
            </a:endParaRPr>
          </a:p>
        </p:txBody>
      </p:sp>
      <p:sp>
        <p:nvSpPr>
          <p:cNvPr id="599" name="Google Shape;599;p69"/>
          <p:cNvSpPr/>
          <p:nvPr/>
        </p:nvSpPr>
        <p:spPr>
          <a:xfrm>
            <a:off x="33850" y="1272350"/>
            <a:ext cx="8642400" cy="1969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Prometheus</a:t>
            </a:r>
            <a:endParaRPr/>
          </a:p>
        </p:txBody>
      </p:sp>
      <p:sp>
        <p:nvSpPr>
          <p:cNvPr id="600" name="Google Shape;600;p69"/>
          <p:cNvSpPr/>
          <p:nvPr/>
        </p:nvSpPr>
        <p:spPr>
          <a:xfrm>
            <a:off x="2468525" y="1725775"/>
            <a:ext cx="1767850" cy="1245275"/>
          </a:xfrm>
          <a:prstGeom prst="flowChartMagneticDisk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Time Series Database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TSDB</a:t>
            </a:r>
            <a:endParaRPr/>
          </a:p>
        </p:txBody>
      </p:sp>
      <p:sp>
        <p:nvSpPr>
          <p:cNvPr id="601" name="Google Shape;601;p69"/>
          <p:cNvSpPr/>
          <p:nvPr/>
        </p:nvSpPr>
        <p:spPr>
          <a:xfrm>
            <a:off x="4879275" y="1685113"/>
            <a:ext cx="1807000" cy="1021925"/>
          </a:xfrm>
          <a:prstGeom prst="flowChartMagneticDrum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/>
              <a:t>Query Interpreter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>
                <a:highlight>
                  <a:srgbClr val="D0E0E3"/>
                </a:highlight>
              </a:rPr>
              <a:t>PromQL</a:t>
            </a:r>
            <a:endParaRPr sz="1200">
              <a:highlight>
                <a:srgbClr val="D0E0E3"/>
              </a:highlight>
            </a:endParaRPr>
          </a:p>
        </p:txBody>
      </p:sp>
      <p:sp>
        <p:nvSpPr>
          <p:cNvPr id="602" name="Google Shape;602;p69"/>
          <p:cNvSpPr/>
          <p:nvPr/>
        </p:nvSpPr>
        <p:spPr>
          <a:xfrm>
            <a:off x="4236375" y="2211725"/>
            <a:ext cx="642900" cy="3924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69"/>
          <p:cNvSpPr/>
          <p:nvPr/>
        </p:nvSpPr>
        <p:spPr>
          <a:xfrm>
            <a:off x="66225" y="1807000"/>
            <a:ext cx="1767900" cy="1055700"/>
          </a:xfrm>
          <a:prstGeom prst="ellipse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Scheduler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mit </a:t>
            </a:r>
            <a:r>
              <a:rPr lang="de-DE">
                <a:highlight>
                  <a:srgbClr val="D0E0E3"/>
                </a:highlight>
              </a:rPr>
              <a:t>Scraping </a:t>
            </a:r>
            <a:r>
              <a:rPr lang="de-DE"/>
              <a:t>von Daten</a:t>
            </a:r>
            <a:endParaRPr/>
          </a:p>
        </p:txBody>
      </p:sp>
      <p:sp>
        <p:nvSpPr>
          <p:cNvPr id="604" name="Google Shape;604;p69"/>
          <p:cNvSpPr/>
          <p:nvPr/>
        </p:nvSpPr>
        <p:spPr>
          <a:xfrm>
            <a:off x="1806750" y="2287500"/>
            <a:ext cx="642900" cy="270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69"/>
          <p:cNvSpPr/>
          <p:nvPr/>
        </p:nvSpPr>
        <p:spPr>
          <a:xfrm>
            <a:off x="6794600" y="1441525"/>
            <a:ext cx="1028700" cy="4872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Web Frontend</a:t>
            </a:r>
            <a:endParaRPr/>
          </a:p>
        </p:txBody>
      </p:sp>
      <p:sp>
        <p:nvSpPr>
          <p:cNvPr id="606" name="Google Shape;606;p69"/>
          <p:cNvSpPr/>
          <p:nvPr/>
        </p:nvSpPr>
        <p:spPr>
          <a:xfrm>
            <a:off x="6929950" y="2179200"/>
            <a:ext cx="1028700" cy="4872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REST Endpoints</a:t>
            </a:r>
            <a:endParaRPr/>
          </a:p>
        </p:txBody>
      </p:sp>
      <p:cxnSp>
        <p:nvCxnSpPr>
          <p:cNvPr id="607" name="Google Shape;607;p69"/>
          <p:cNvCxnSpPr>
            <a:stCxn id="605" idx="1"/>
            <a:endCxn id="601" idx="4"/>
          </p:cNvCxnSpPr>
          <p:nvPr/>
        </p:nvCxnSpPr>
        <p:spPr>
          <a:xfrm flipH="1">
            <a:off x="6686300" y="1685125"/>
            <a:ext cx="108300" cy="51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8" name="Google Shape;608;p69"/>
          <p:cNvCxnSpPr>
            <a:stCxn id="606" idx="1"/>
            <a:endCxn id="601" idx="4"/>
          </p:cNvCxnSpPr>
          <p:nvPr/>
        </p:nvCxnSpPr>
        <p:spPr>
          <a:xfrm rot="10800000">
            <a:off x="6686350" y="2196000"/>
            <a:ext cx="243600" cy="22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9" name="Google Shape;609;p69"/>
          <p:cNvCxnSpPr>
            <a:stCxn id="610" idx="2"/>
            <a:endCxn id="611" idx="0"/>
          </p:cNvCxnSpPr>
          <p:nvPr/>
        </p:nvCxnSpPr>
        <p:spPr>
          <a:xfrm flipH="1">
            <a:off x="1251825" y="4226400"/>
            <a:ext cx="30600" cy="11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12" name="Google Shape;612;p69"/>
          <p:cNvSpPr/>
          <p:nvPr/>
        </p:nvSpPr>
        <p:spPr>
          <a:xfrm>
            <a:off x="1989725" y="845975"/>
            <a:ext cx="819300" cy="270600"/>
          </a:xfrm>
          <a:prstGeom prst="rect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Rules</a:t>
            </a:r>
            <a:endParaRPr/>
          </a:p>
        </p:txBody>
      </p:sp>
      <p:cxnSp>
        <p:nvCxnSpPr>
          <p:cNvPr id="613" name="Google Shape;613;p69"/>
          <p:cNvCxnSpPr>
            <a:stCxn id="612" idx="2"/>
          </p:cNvCxnSpPr>
          <p:nvPr/>
        </p:nvCxnSpPr>
        <p:spPr>
          <a:xfrm>
            <a:off x="2399375" y="1116575"/>
            <a:ext cx="43800" cy="122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14" name="Google Shape;614;p69"/>
          <p:cNvSpPr/>
          <p:nvPr/>
        </p:nvSpPr>
        <p:spPr>
          <a:xfrm>
            <a:off x="8236375" y="2199525"/>
            <a:ext cx="907500" cy="447000"/>
          </a:xfrm>
          <a:prstGeom prst="rect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Grafana</a:t>
            </a:r>
            <a:endParaRPr/>
          </a:p>
        </p:txBody>
      </p:sp>
      <p:sp>
        <p:nvSpPr>
          <p:cNvPr id="615" name="Google Shape;615;p69"/>
          <p:cNvSpPr/>
          <p:nvPr/>
        </p:nvSpPr>
        <p:spPr>
          <a:xfrm>
            <a:off x="7970675" y="2299275"/>
            <a:ext cx="291000" cy="2286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69"/>
          <p:cNvSpPr/>
          <p:nvPr/>
        </p:nvSpPr>
        <p:spPr>
          <a:xfrm>
            <a:off x="6124825" y="2781550"/>
            <a:ext cx="1698300" cy="701400"/>
          </a:xfrm>
          <a:prstGeom prst="ellipse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Scheduler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Alerts</a:t>
            </a:r>
            <a:endParaRPr/>
          </a:p>
        </p:txBody>
      </p:sp>
      <p:cxnSp>
        <p:nvCxnSpPr>
          <p:cNvPr id="617" name="Google Shape;617;p69"/>
          <p:cNvCxnSpPr>
            <a:stCxn id="616" idx="1"/>
            <a:endCxn id="601" idx="2"/>
          </p:cNvCxnSpPr>
          <p:nvPr/>
        </p:nvCxnSpPr>
        <p:spPr>
          <a:xfrm rot="10800000">
            <a:off x="5782835" y="2706968"/>
            <a:ext cx="590700" cy="17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18" name="Google Shape;618;p69"/>
          <p:cNvSpPr/>
          <p:nvPr/>
        </p:nvSpPr>
        <p:spPr>
          <a:xfrm>
            <a:off x="7837075" y="3566600"/>
            <a:ext cx="1197900" cy="645000"/>
          </a:xfrm>
          <a:prstGeom prst="rect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Alert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Manager</a:t>
            </a:r>
            <a:endParaRPr/>
          </a:p>
        </p:txBody>
      </p:sp>
      <p:cxnSp>
        <p:nvCxnSpPr>
          <p:cNvPr id="619" name="Google Shape;619;p69"/>
          <p:cNvCxnSpPr>
            <a:stCxn id="616" idx="5"/>
            <a:endCxn id="618" idx="1"/>
          </p:cNvCxnSpPr>
          <p:nvPr/>
        </p:nvCxnSpPr>
        <p:spPr>
          <a:xfrm>
            <a:off x="7574415" y="3380232"/>
            <a:ext cx="262800" cy="50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70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625" name="Google Shape;625;p70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70"/>
          <p:cNvSpPr txBox="1"/>
          <p:nvPr>
            <p:ph idx="1" type="subTitle"/>
          </p:nvPr>
        </p:nvSpPr>
        <p:spPr>
          <a:xfrm>
            <a:off x="405525" y="2548100"/>
            <a:ext cx="8340300" cy="675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de-DE"/>
              <a:t>Prometheus Exporter im Detail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71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ToDo</a:t>
            </a:r>
            <a:endParaRPr/>
          </a:p>
        </p:txBody>
      </p:sp>
      <p:sp>
        <p:nvSpPr>
          <p:cNvPr id="632" name="Google Shape;632;p71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633" name="Google Shape;633;p71"/>
          <p:cNvSpPr txBox="1"/>
          <p:nvPr>
            <p:ph idx="1" type="body"/>
          </p:nvPr>
        </p:nvSpPr>
        <p:spPr>
          <a:xfrm>
            <a:off x="323850" y="897565"/>
            <a:ext cx="8496300" cy="381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Nun die folgende Befehlssequenz eingeben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cd ..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cd node_exporter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docker compose up -d</a:t>
            </a:r>
            <a:endParaRPr/>
          </a:p>
        </p:txBody>
      </p:sp>
      <p:sp>
        <p:nvSpPr>
          <p:cNvPr id="634" name="Google Shape;634;p71"/>
          <p:cNvSpPr/>
          <p:nvPr/>
        </p:nvSpPr>
        <p:spPr>
          <a:xfrm>
            <a:off x="4559050" y="1749475"/>
            <a:ext cx="3842100" cy="27102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CHECK im Browser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 u="sng">
                <a:solidFill>
                  <a:schemeClr val="hlink"/>
                </a:solidFill>
                <a:hlinkClick r:id="rId3"/>
              </a:rPr>
              <a:t>http://localhost:909</a:t>
            </a:r>
            <a:r>
              <a:rPr lang="de-DE"/>
              <a:t>1/metrics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de-DE"/>
              <a:t>zeigt wieder Linux-Metriken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Im Prometheus-Frontend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de-DE"/>
              <a:t>up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de-DE"/>
              <a:t>auch Linux Deskmate ist nun auf 1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72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Prometheus Exporter</a:t>
            </a:r>
            <a:endParaRPr/>
          </a:p>
        </p:txBody>
      </p:sp>
      <p:sp>
        <p:nvSpPr>
          <p:cNvPr id="640" name="Google Shape;640;p72"/>
          <p:cNvSpPr txBox="1"/>
          <p:nvPr>
            <p:ph idx="1" type="body"/>
          </p:nvPr>
        </p:nvSpPr>
        <p:spPr>
          <a:xfrm>
            <a:off x="323850" y="897565"/>
            <a:ext cx="8496300" cy="381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Stellt einen Prometheus-Metrik-Endpoint zur Verfügung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Die interne Implementierung weiß, wie sie die Informationen aus einer laufenden Anwendung ziehen kann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Es existiert eine Palette fertiger Exporter-Implementierungen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Prometheus-Community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Herstellern von Produkten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Open Source Community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Eigene Exporters können bei Bedarf natürlich jederzeit programmiert werden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Im Wesentlichen genügt hierfür die Bereitstellung eines Web Servers</a:t>
            </a:r>
            <a:endParaRPr/>
          </a:p>
        </p:txBody>
      </p:sp>
      <p:sp>
        <p:nvSpPr>
          <p:cNvPr id="641" name="Google Shape;641;p72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73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ToDo</a:t>
            </a:r>
            <a:endParaRPr/>
          </a:p>
        </p:txBody>
      </p:sp>
      <p:sp>
        <p:nvSpPr>
          <p:cNvPr id="647" name="Google Shape;647;p73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648" name="Google Shape;648;p73"/>
          <p:cNvSpPr txBox="1"/>
          <p:nvPr>
            <p:ph idx="1" type="body"/>
          </p:nvPr>
        </p:nvSpPr>
        <p:spPr>
          <a:xfrm>
            <a:off x="323850" y="897565"/>
            <a:ext cx="8496300" cy="381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Stoppen Sie ihr Prometheus/Grafana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docker compose down</a:t>
            </a:r>
            <a:endParaRPr/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de-DE"/>
              <a:t>im Verzeichnis "server"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Ändern Sie die Konfiguration um einen weiteren Job, in dem Sie Ihren Deskmate eintragen</a:t>
            </a:r>
            <a:endParaRPr/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de-DE"/>
              <a:t>ip a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docker compose up -d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>
                <a:highlight>
                  <a:srgbClr val="F4CCCC"/>
                </a:highlight>
              </a:rPr>
              <a:t>Starten des Node Exporters auf Ihrem Deskmate</a:t>
            </a:r>
            <a:endParaRPr>
              <a:highlight>
                <a:srgbClr val="F4CCCC"/>
              </a:highlight>
            </a:endParaRPr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de-DE">
                <a:highlight>
                  <a:srgbClr val="F4CCCC"/>
                </a:highlight>
              </a:rPr>
              <a:t>cd ..</a:t>
            </a:r>
            <a:endParaRPr>
              <a:highlight>
                <a:srgbClr val="F4CCCC"/>
              </a:highlight>
            </a:endParaRPr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de-DE">
                <a:highlight>
                  <a:srgbClr val="F4CCCC"/>
                </a:highlight>
              </a:rPr>
              <a:t>cd node_exporter</a:t>
            </a:r>
            <a:endParaRPr>
              <a:highlight>
                <a:srgbClr val="F4CCCC"/>
              </a:highlight>
            </a:endParaRPr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de-DE">
                <a:highlight>
                  <a:srgbClr val="F4CCCC"/>
                </a:highlight>
              </a:rPr>
              <a:t>docker compose up -d</a:t>
            </a:r>
            <a:endParaRPr>
              <a:highlight>
                <a:srgbClr val="F4CCCC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Zusätzlich: Scraping-Konfiguration für den nginx-Exporter</a:t>
            </a:r>
            <a:endParaRPr/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de-DE"/>
              <a:t>Auf Referenten-Deskmate unter 9113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Dafür bitte ein Dashboard konzipieren/erstellen/</a:t>
            </a:r>
            <a:r>
              <a:rPr b="1" lang="de-DE"/>
              <a:t>importieren&amp;anpassen</a:t>
            </a:r>
            <a:endParaRPr b="1"/>
          </a:p>
        </p:txBody>
      </p:sp>
      <p:sp>
        <p:nvSpPr>
          <p:cNvPr id="649" name="Google Shape;649;p73"/>
          <p:cNvSpPr/>
          <p:nvPr/>
        </p:nvSpPr>
        <p:spPr>
          <a:xfrm>
            <a:off x="6522525" y="3089225"/>
            <a:ext cx="2071200" cy="6237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Hatte ich vergessen…</a:t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74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Kategorien von Exportern</a:t>
            </a:r>
            <a:endParaRPr/>
          </a:p>
        </p:txBody>
      </p:sp>
      <p:sp>
        <p:nvSpPr>
          <p:cNvPr id="655" name="Google Shape;655;p74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656" name="Google Shape;656;p74"/>
          <p:cNvSpPr/>
          <p:nvPr/>
        </p:nvSpPr>
        <p:spPr>
          <a:xfrm>
            <a:off x="193250" y="1079575"/>
            <a:ext cx="1971300" cy="88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Anwendung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Programm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v1.0</a:t>
            </a:r>
            <a:endParaRPr/>
          </a:p>
        </p:txBody>
      </p:sp>
      <p:sp>
        <p:nvSpPr>
          <p:cNvPr id="657" name="Google Shape;657;p74"/>
          <p:cNvSpPr/>
          <p:nvPr/>
        </p:nvSpPr>
        <p:spPr>
          <a:xfrm>
            <a:off x="2202900" y="1349075"/>
            <a:ext cx="2577900" cy="454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Programmierung</a:t>
            </a:r>
            <a:endParaRPr/>
          </a:p>
        </p:txBody>
      </p:sp>
      <p:sp>
        <p:nvSpPr>
          <p:cNvPr id="658" name="Google Shape;658;p74"/>
          <p:cNvSpPr/>
          <p:nvPr/>
        </p:nvSpPr>
        <p:spPr>
          <a:xfrm>
            <a:off x="4817325" y="1079575"/>
            <a:ext cx="1971300" cy="88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Anwendung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Programm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highlight>
                  <a:srgbClr val="FFFF00"/>
                </a:highlight>
              </a:rPr>
              <a:t>{...}</a:t>
            </a:r>
            <a:endParaRPr>
              <a:highlight>
                <a:srgbClr val="FFFF00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v1.0:prometheus</a:t>
            </a:r>
            <a:endParaRPr/>
          </a:p>
        </p:txBody>
      </p:sp>
      <p:sp>
        <p:nvSpPr>
          <p:cNvPr id="659" name="Google Shape;659;p74"/>
          <p:cNvSpPr/>
          <p:nvPr/>
        </p:nvSpPr>
        <p:spPr>
          <a:xfrm>
            <a:off x="77750" y="2164450"/>
            <a:ext cx="2577900" cy="1440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Runtime</a:t>
            </a:r>
            <a:endParaRPr/>
          </a:p>
        </p:txBody>
      </p:sp>
      <p:sp>
        <p:nvSpPr>
          <p:cNvPr id="660" name="Google Shape;660;p74"/>
          <p:cNvSpPr/>
          <p:nvPr/>
        </p:nvSpPr>
        <p:spPr>
          <a:xfrm>
            <a:off x="7554300" y="940975"/>
            <a:ext cx="1463100" cy="8856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In der Praxis irrelevant</a:t>
            </a:r>
            <a:endParaRPr/>
          </a:p>
        </p:txBody>
      </p:sp>
      <p:sp>
        <p:nvSpPr>
          <p:cNvPr id="661" name="Google Shape;661;p74"/>
          <p:cNvSpPr/>
          <p:nvPr/>
        </p:nvSpPr>
        <p:spPr>
          <a:xfrm>
            <a:off x="207053" y="2237975"/>
            <a:ext cx="1971300" cy="88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Anwendung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Programm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v1.0</a:t>
            </a:r>
            <a:endParaRPr/>
          </a:p>
        </p:txBody>
      </p:sp>
      <p:sp>
        <p:nvSpPr>
          <p:cNvPr id="662" name="Google Shape;662;p74"/>
          <p:cNvSpPr/>
          <p:nvPr/>
        </p:nvSpPr>
        <p:spPr>
          <a:xfrm>
            <a:off x="2664900" y="2719650"/>
            <a:ext cx="1907100" cy="403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Modifierter Start</a:t>
            </a:r>
            <a:endParaRPr/>
          </a:p>
        </p:txBody>
      </p:sp>
      <p:sp>
        <p:nvSpPr>
          <p:cNvPr id="663" name="Google Shape;663;p74"/>
          <p:cNvSpPr/>
          <p:nvPr/>
        </p:nvSpPr>
        <p:spPr>
          <a:xfrm>
            <a:off x="4573550" y="2164450"/>
            <a:ext cx="2577900" cy="1440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Runtime</a:t>
            </a:r>
            <a:endParaRPr/>
          </a:p>
        </p:txBody>
      </p:sp>
      <p:sp>
        <p:nvSpPr>
          <p:cNvPr id="664" name="Google Shape;664;p74"/>
          <p:cNvSpPr/>
          <p:nvPr/>
        </p:nvSpPr>
        <p:spPr>
          <a:xfrm>
            <a:off x="4702853" y="2237975"/>
            <a:ext cx="1971300" cy="88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Anwendung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Programm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v1.0</a:t>
            </a:r>
            <a:endParaRPr/>
          </a:p>
        </p:txBody>
      </p:sp>
      <p:sp>
        <p:nvSpPr>
          <p:cNvPr id="665" name="Google Shape;665;p74"/>
          <p:cNvSpPr/>
          <p:nvPr/>
        </p:nvSpPr>
        <p:spPr>
          <a:xfrm>
            <a:off x="6788625" y="2665750"/>
            <a:ext cx="1743600" cy="7014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Agent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=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Fertiger Exporter</a:t>
            </a:r>
            <a:endParaRPr/>
          </a:p>
        </p:txBody>
      </p:sp>
      <p:sp>
        <p:nvSpPr>
          <p:cNvPr id="666" name="Google Shape;666;p74"/>
          <p:cNvSpPr/>
          <p:nvPr/>
        </p:nvSpPr>
        <p:spPr>
          <a:xfrm>
            <a:off x="193250" y="3746575"/>
            <a:ext cx="3711300" cy="88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Anwendung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Programm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v1.0</a:t>
            </a:r>
            <a:endParaRPr/>
          </a:p>
        </p:txBody>
      </p:sp>
      <p:sp>
        <p:nvSpPr>
          <p:cNvPr id="667" name="Google Shape;667;p74"/>
          <p:cNvSpPr/>
          <p:nvPr/>
        </p:nvSpPr>
        <p:spPr>
          <a:xfrm>
            <a:off x="1494525" y="3936225"/>
            <a:ext cx="2317800" cy="631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Proprietäre Metrik-Erfassung</a:t>
            </a:r>
            <a:endParaRPr/>
          </a:p>
        </p:txBody>
      </p:sp>
      <p:sp>
        <p:nvSpPr>
          <p:cNvPr id="668" name="Google Shape;668;p74"/>
          <p:cNvSpPr/>
          <p:nvPr/>
        </p:nvSpPr>
        <p:spPr>
          <a:xfrm>
            <a:off x="4350225" y="3961150"/>
            <a:ext cx="2256900" cy="5466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Prometheus Exporter</a:t>
            </a:r>
            <a:endParaRPr/>
          </a:p>
        </p:txBody>
      </p:sp>
      <p:sp>
        <p:nvSpPr>
          <p:cNvPr id="669" name="Google Shape;669;p74"/>
          <p:cNvSpPr/>
          <p:nvPr/>
        </p:nvSpPr>
        <p:spPr>
          <a:xfrm>
            <a:off x="3904550" y="4039825"/>
            <a:ext cx="454200" cy="2043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75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Beispiel zu Exportern vom Typ Agent</a:t>
            </a:r>
            <a:endParaRPr/>
          </a:p>
        </p:txBody>
      </p:sp>
      <p:sp>
        <p:nvSpPr>
          <p:cNvPr id="675" name="Google Shape;675;p75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676" name="Google Shape;676;p75"/>
          <p:cNvSpPr txBox="1"/>
          <p:nvPr>
            <p:ph idx="1" type="body"/>
          </p:nvPr>
        </p:nvSpPr>
        <p:spPr>
          <a:xfrm>
            <a:off x="323850" y="897565"/>
            <a:ext cx="8496300" cy="381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Java Anwendungen laufen in der Virtual Machine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Durch den Java Exporter werden Prometheus-Metriken aus der JVM bereitgestellt</a:t>
            </a: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76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Beispiel zu Exportern</a:t>
            </a:r>
            <a:endParaRPr/>
          </a:p>
        </p:txBody>
      </p:sp>
      <p:sp>
        <p:nvSpPr>
          <p:cNvPr id="682" name="Google Shape;682;p76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683" name="Google Shape;683;p76"/>
          <p:cNvSpPr txBox="1"/>
          <p:nvPr>
            <p:ph idx="1" type="body"/>
          </p:nvPr>
        </p:nvSpPr>
        <p:spPr>
          <a:xfrm>
            <a:off x="323850" y="897565"/>
            <a:ext cx="8496300" cy="381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Als Beispiel hierzu haben wir bisher schon den Node Exporter genutzt</a:t>
            </a:r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77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Exkurs: Java und Metriken</a:t>
            </a:r>
            <a:endParaRPr/>
          </a:p>
        </p:txBody>
      </p:sp>
      <p:sp>
        <p:nvSpPr>
          <p:cNvPr id="689" name="Google Shape;689;p77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690" name="Google Shape;690;p77"/>
          <p:cNvSpPr txBox="1"/>
          <p:nvPr>
            <p:ph idx="1" type="body"/>
          </p:nvPr>
        </p:nvSpPr>
        <p:spPr>
          <a:xfrm>
            <a:off x="323850" y="897565"/>
            <a:ext cx="8496300" cy="381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Java Management Extension, JMX steht für jeden Java-Prozess sofort zur Verfügung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Damit sind Standard-Metriken des Java-Prozesses sofort verfügbar</a:t>
            </a:r>
            <a:endParaRPr/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de-DE"/>
              <a:t>java.lang:type=Memory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JMX und Überwachung passt nur scheinbar gut zusammen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JMX ist nicht nur Überwachung, sondern auch Administration</a:t>
            </a:r>
            <a:endParaRPr/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de-DE"/>
              <a:t>Über einen JMX-Client könnte beispielsweise eine Garbage Collection </a:t>
            </a:r>
            <a:r>
              <a:rPr lang="de-DE"/>
              <a:t>angestoßen</a:t>
            </a:r>
            <a:r>
              <a:rPr lang="de-DE"/>
              <a:t> werden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78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Der JMX-Exporter</a:t>
            </a:r>
            <a:endParaRPr/>
          </a:p>
        </p:txBody>
      </p:sp>
      <p:sp>
        <p:nvSpPr>
          <p:cNvPr id="696" name="Google Shape;696;p78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697" name="Google Shape;697;p78"/>
          <p:cNvSpPr txBox="1"/>
          <p:nvPr>
            <p:ph idx="1" type="body"/>
          </p:nvPr>
        </p:nvSpPr>
        <p:spPr>
          <a:xfrm>
            <a:off x="323850" y="897565"/>
            <a:ext cx="8496300" cy="381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Dieser liest aus der Java-Anwendung die in JMX bereitgestellten Informationen und stellt diese Prometheus-konform zur Verfügung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Existiert in 2 Ausprägungen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Klassischer Standalone Exporter</a:t>
            </a:r>
            <a:endParaRPr/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de-DE"/>
              <a:t>selten verwendet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Java Agent</a:t>
            </a:r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79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Spring Boot</a:t>
            </a:r>
            <a:endParaRPr/>
          </a:p>
        </p:txBody>
      </p:sp>
      <p:sp>
        <p:nvSpPr>
          <p:cNvPr id="703" name="Google Shape;703;p79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704" name="Google Shape;704;p79"/>
          <p:cNvSpPr txBox="1"/>
          <p:nvPr>
            <p:ph idx="1" type="body"/>
          </p:nvPr>
        </p:nvSpPr>
        <p:spPr>
          <a:xfrm>
            <a:off x="323850" y="897565"/>
            <a:ext cx="8496300" cy="381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Der Actuator ist für Erfassung und Bereitstellung von Metriken verfügbar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Der prometheus-Endpunkt kann konfigurativ aktiviert werden und stellt dann unter host:port/actuator/prometheus ausgewählte JVM-Metriken zur Verfügung</a:t>
            </a: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80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Benutzerdefinierte Metriken</a:t>
            </a:r>
            <a:endParaRPr/>
          </a:p>
        </p:txBody>
      </p:sp>
      <p:sp>
        <p:nvSpPr>
          <p:cNvPr id="710" name="Google Shape;710;p80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711" name="Google Shape;711;p80"/>
          <p:cNvSpPr txBox="1"/>
          <p:nvPr>
            <p:ph idx="1" type="body"/>
          </p:nvPr>
        </p:nvSpPr>
        <p:spPr>
          <a:xfrm>
            <a:off x="323850" y="897565"/>
            <a:ext cx="8496300" cy="381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Bitte Namenkonventionen beachten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Spring Boot "toleriert hier einiges" 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Wahl des richtigen Metrik-Typs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Counter wo immer es irgendwie geht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Gauge</a:t>
            </a:r>
            <a:endParaRPr/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de-DE"/>
              <a:t>Echte beliebige Werte</a:t>
            </a:r>
            <a:endParaRPr/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de-DE"/>
              <a:t>Konfigurationseinstellungen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Pseudometrik</a:t>
            </a:r>
            <a:endParaRPr/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de-DE"/>
              <a:t>Dient zum Transport von Labels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Den Einsatz "ob überhaupt" überdenken</a:t>
            </a:r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81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717" name="Google Shape;717;p81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81"/>
          <p:cNvSpPr txBox="1"/>
          <p:nvPr>
            <p:ph idx="1" type="subTitle"/>
          </p:nvPr>
        </p:nvSpPr>
        <p:spPr>
          <a:xfrm>
            <a:off x="405525" y="2548100"/>
            <a:ext cx="8340300" cy="675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de-DE"/>
              <a:t>Dies und Das</a:t>
            </a:r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82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Exkurs</a:t>
            </a:r>
            <a:endParaRPr/>
          </a:p>
        </p:txBody>
      </p:sp>
      <p:sp>
        <p:nvSpPr>
          <p:cNvPr id="724" name="Google Shape;724;p82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725" name="Google Shape;725;p82"/>
          <p:cNvSpPr txBox="1"/>
          <p:nvPr>
            <p:ph idx="1" type="body"/>
          </p:nvPr>
        </p:nvSpPr>
        <p:spPr>
          <a:xfrm>
            <a:off x="323850" y="897565"/>
            <a:ext cx="8496300" cy="381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Umgang mit Zuständen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Im Endeffekt eine Enumeration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Abbildung auf Zahlen</a:t>
            </a:r>
            <a:endParaRPr/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de-DE"/>
              <a:t>Vorsicht: STARTING, STOPPING, RUNNING -&gt; 0,1,2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▪"/>
            </a:pPr>
            <a:r>
              <a:rPr lang="de-DE"/>
              <a:t>Abfrage nach diesem Status ergibt eventuell als Ergebnis 1.45 -&gt; Seite 46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Logische Werte sind immer 0 (false) 1 (true)</a:t>
            </a:r>
            <a:endParaRPr/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de-DE"/>
              <a:t>Kompatibel mit den Ergebnis-Vektoren eines bool-Vergleichs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Umgang mit textuellen Informationen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Metrik mit der Endung _info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Das “Measurement-</a:t>
            </a:r>
            <a:r>
              <a:rPr b="1" lang="de-DE"/>
              <a:t>API</a:t>
            </a:r>
            <a:r>
              <a:rPr lang="de-DE"/>
              <a:t>” ist ernst zu nehmen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Hinzufügen oder Entfernen von Labels zu einer Metrik wird eine Anpassung der PromQL-Statements erfordern</a:t>
            </a:r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83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Umgang mit Enumerationen</a:t>
            </a:r>
            <a:endParaRPr/>
          </a:p>
        </p:txBody>
      </p:sp>
      <p:sp>
        <p:nvSpPr>
          <p:cNvPr id="731" name="Google Shape;731;p83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732" name="Google Shape;732;p83"/>
          <p:cNvSpPr txBox="1"/>
          <p:nvPr>
            <p:ph idx="1" type="body"/>
          </p:nvPr>
        </p:nvSpPr>
        <p:spPr>
          <a:xfrm>
            <a:off x="323850" y="897565"/>
            <a:ext cx="8496300" cy="381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Lösung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last_over_time(range_vector)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Alternative: Label Patterns “enum”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{state=”RUNNING|STARTING|STOPPING”} 0|1</a:t>
            </a:r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84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Predictive Analysis mit Prometheus</a:t>
            </a:r>
            <a:endParaRPr/>
          </a:p>
        </p:txBody>
      </p:sp>
      <p:sp>
        <p:nvSpPr>
          <p:cNvPr id="738" name="Google Shape;738;p84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739" name="Google Shape;739;p84"/>
          <p:cNvSpPr txBox="1"/>
          <p:nvPr>
            <p:ph idx="1" type="body"/>
          </p:nvPr>
        </p:nvSpPr>
        <p:spPr>
          <a:xfrm>
            <a:off x="323850" y="897565"/>
            <a:ext cx="8496300" cy="381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Nur sehr rudimentär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predict_linear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Ernsthafte statistische Analysen = Machine Learning nutzt Prometheus nur als Datenquelle</a:t>
            </a: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85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Prometheus Recording und Alert Rules</a:t>
            </a:r>
            <a:endParaRPr/>
          </a:p>
        </p:txBody>
      </p:sp>
      <p:sp>
        <p:nvSpPr>
          <p:cNvPr id="745" name="Google Shape;745;p85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746" name="Google Shape;746;p85"/>
          <p:cNvSpPr txBox="1"/>
          <p:nvPr>
            <p:ph idx="1" type="body"/>
          </p:nvPr>
        </p:nvSpPr>
        <p:spPr>
          <a:xfrm>
            <a:off x="323850" y="897565"/>
            <a:ext cx="8496300" cy="381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Externe “Programme”, die in Prometheus als Quellcode hinterlegt werden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Diese Programme werden nicht interaktiv aufgerufen, sondern werden im Hintergrund von Prometheus ausgeführt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Die Ergebnisse stehen dann zur Verfügung</a:t>
            </a:r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86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Service Discovery</a:t>
            </a:r>
            <a:endParaRPr/>
          </a:p>
        </p:txBody>
      </p:sp>
      <p:sp>
        <p:nvSpPr>
          <p:cNvPr id="752" name="Google Shape;752;p86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753" name="Google Shape;753;p86"/>
          <p:cNvSpPr txBox="1"/>
          <p:nvPr>
            <p:ph idx="1" type="body"/>
          </p:nvPr>
        </p:nvSpPr>
        <p:spPr>
          <a:xfrm>
            <a:off x="323850" y="897565"/>
            <a:ext cx="8496300" cy="381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Bisher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statische Konfiguration der Scrapes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Problem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Funktioniert nur sehr umständlich in einer orchestrierten Cloud-Umgebung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Lösung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Prometheus ist kompatibel zu z.B. Kubernetes</a:t>
            </a:r>
            <a:endParaRPr/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de-DE"/>
              <a:t>Eine Konfiguration eines Scrapes erfolgt durch Angabe einer Service-Registry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▪"/>
            </a:pPr>
            <a:r>
              <a:rPr lang="de-DE"/>
              <a:t>diese “weiß”, wie viele Container aktuell laufen</a:t>
            </a:r>
            <a:endParaRPr/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de-DE"/>
              <a:t>In der Praxis wird Prometheus in Kubernetes integriert sein</a:t>
            </a:r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87"/>
          <p:cNvSpPr txBox="1"/>
          <p:nvPr>
            <p:ph type="title"/>
          </p:nvPr>
        </p:nvSpPr>
        <p:spPr>
          <a:xfrm>
            <a:off x="323529" y="1"/>
            <a:ext cx="5688600" cy="701400"/>
          </a:xfrm>
          <a:prstGeom prst="rect">
            <a:avLst/>
          </a:prstGeom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Prometheus und Docker Container</a:t>
            </a:r>
            <a:endParaRPr/>
          </a:p>
        </p:txBody>
      </p:sp>
      <p:sp>
        <p:nvSpPr>
          <p:cNvPr id="759" name="Google Shape;759;p87"/>
          <p:cNvSpPr txBox="1"/>
          <p:nvPr>
            <p:ph idx="12" type="sldNum"/>
          </p:nvPr>
        </p:nvSpPr>
        <p:spPr>
          <a:xfrm>
            <a:off x="8001000" y="4844653"/>
            <a:ext cx="819300" cy="2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760" name="Google Shape;760;p87"/>
          <p:cNvSpPr txBox="1"/>
          <p:nvPr>
            <p:ph idx="1" type="body"/>
          </p:nvPr>
        </p:nvSpPr>
        <p:spPr>
          <a:xfrm>
            <a:off x="323850" y="897565"/>
            <a:ext cx="8496300" cy="381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Node Exporter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eigentlich ist das ein “Host-Exporter”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de-DE"/>
              <a:t>Container-Unterstützung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de-DE"/>
              <a:t>https://prometheus.io/docs/guides/cadvisor/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ntegrata-Logo-2019-Cover-Vorlage-V1">
  <a:themeElements>
    <a:clrScheme name="Benutzerdefiniert 3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D20000"/>
      </a:accent1>
      <a:accent2>
        <a:srgbClr val="000000"/>
      </a:accent2>
      <a:accent3>
        <a:srgbClr val="D20000"/>
      </a:accent3>
      <a:accent4>
        <a:srgbClr val="F6A800"/>
      </a:accent4>
      <a:accent5>
        <a:srgbClr val="E95E0F"/>
      </a:accent5>
      <a:accent6>
        <a:srgbClr val="65599F"/>
      </a:accent6>
      <a:hlink>
        <a:srgbClr val="B0CB51"/>
      </a:hlink>
      <a:folHlink>
        <a:srgbClr val="E0519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